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【① 今日のゴールと3つのお約束｜約2分30秒】
・今日のゴール：頑張って「話す」を手放す／「心を掴む」コミュニケーションを知る／明日からの人間関係が楽しみになる
・次：今日の流れ（スライド3）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1/12】
今表示した行（私）：先週、師匠の還暦祝いに行ったんです
次の行（A）：おぉ、楽しかったんですね。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2/12】
今表示した行（A）：おぉ、楽しかったんですね。
次の行（私）：はい笑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3/12】
今表示した行（私）：はい笑
次の行（A）：どういうところが楽しかったんですか？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4/12】
今表示した行（A）：どういうところが楽しかったんですか？
次の行（私）：んー4、50人かな。人が集まって、懐かしい人にも会えて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5/12】
今表示した行（私）：んー4、50人かな。人が集まって、懐かしい人にも会えて
次の行（A）：そんなに人が集まったんですね。すごいですね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6/12】
今表示した行（A）：そんなに人が集まったんですね。すごいですね
次の行（私）：すごいですよね。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7/12】
今表示した行（私）：すごいですよね。
次の行（A）：なんの先生なんですか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8/12】
今表示した行（A）：なんの先生なんですか
次の行（私）：大学の教授で、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9/12】
今表示した行（私）：大学の教授で、
次の行（A）：大学、何の専門の教授ですか？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10/12】
今表示した行（A）：大学、何の専門の教授ですか？
次の行（私）：アジア社会学の先生ですね。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11/12】
今表示した行（私）：アジア社会学の先生ですね。
次の行（A）：おぉ、私の大学の教授も…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12/12】
今表示した行（A）：おぉ、私の大学の教授も…
会話はここまで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解説（約2分）
・「楽しかったんですね」：相手が言っていない気持ちを、先に決めつけている
・「どういうところが楽しかったんですか？」：質問で、聞き手の知りたい方向へ引っ張っている
・「そんなに人が集まったんですね。すごいですね」：文章に言い換え、評価（ジャッジ）が入っている
・「なんの先生なんですか」「何の専門ですか」：話題が、気持ちから情報へ移り、質問が続いて尋問のようになる
・「私の大学の教授も…」：いつのまにか、聞き手の話にすり替わる
・結果：話し手が触れた「懐かしい人にも会えて」が、拾われないまま終わる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・Aさんに悪気はない。よくある聞き方
・つなぎ（約30秒）：じゃあ、どうすればいいか → 次の技へ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本日のゴール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79500" y="1701800"/>
            <a:ext cx="3175000" cy="3683000"/>
          </a:xfrm>
          <a:prstGeom prst="roundRect">
            <a:avLst>
              <a:gd name="adj" fmla="val 5600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1968500" y="19812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968500" y="19812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97D74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Point01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06500" y="2527300"/>
            <a:ext cx="2921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F635B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頑張って</a:t>
            </a:r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5FB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「話す」</a:t>
            </a:r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F635B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を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F635B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手放す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08500" y="1701800"/>
            <a:ext cx="3175000" cy="3683000"/>
          </a:xfrm>
          <a:prstGeom prst="roundRect">
            <a:avLst>
              <a:gd name="adj" fmla="val 5600"/>
            </a:avLst>
          </a:prstGeom>
          <a:solidFill>
            <a:srgbClr val="E3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5397500" y="19812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7500" y="19812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97D74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Point02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35500" y="2527300"/>
            <a:ext cx="2921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5FB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「心を掴む」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F635B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コミュニケーションを知る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37500" y="1701800"/>
            <a:ext cx="3175000" cy="3683000"/>
          </a:xfrm>
          <a:prstGeom prst="roundRect">
            <a:avLst>
              <a:gd name="adj" fmla="val 5600"/>
            </a:avLst>
          </a:prstGeom>
          <a:solidFill>
            <a:srgbClr val="E3F7FD"/>
          </a:solidFill>
          <a:ln/>
        </p:spPr>
      </p:sp>
      <p:sp>
        <p:nvSpPr>
          <p:cNvPr id="15" name="Shape 12"/>
          <p:cNvSpPr/>
          <p:nvPr/>
        </p:nvSpPr>
        <p:spPr>
          <a:xfrm>
            <a:off x="8826500" y="1981200"/>
            <a:ext cx="1397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826500" y="19812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97D74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Point03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64500" y="2527300"/>
            <a:ext cx="2921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F635B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明日からの人間関係が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5FB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楽しみになる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先週、師匠の還暦祝いに行ったんです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おぉ、楽しかったんですね。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おぉ、楽しかったんですね。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9271000" y="3041650"/>
            <a:ext cx="1066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271000" y="304165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はい笑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おぉ、楽しかったんですね。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9271000" y="3041650"/>
            <a:ext cx="1066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271000" y="304165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はい笑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4114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どういうところが楽しかったんですか？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おぉ、楽しかったんですね。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9271000" y="3041650"/>
            <a:ext cx="1066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271000" y="304165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はい笑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4114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どういうところが楽しかったんですか？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515600" y="45529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515600" y="45529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 rot="5400000">
            <a:off x="10299700" y="46799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9" name="Shape 26"/>
          <p:cNvSpPr/>
          <p:nvPr/>
        </p:nvSpPr>
        <p:spPr>
          <a:xfrm>
            <a:off x="4667250" y="4489450"/>
            <a:ext cx="56705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67250" y="4489450"/>
            <a:ext cx="5670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んー4、50人かな。人が集まって、懐かしい人にも会えて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おぉ、楽しかったんですね。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9271000" y="3041650"/>
            <a:ext cx="1066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271000" y="304165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はい笑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4114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どういうところが楽しかったんですか？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515600" y="45529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515600" y="45529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 rot="5400000">
            <a:off x="10299700" y="46799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9" name="Shape 26"/>
          <p:cNvSpPr/>
          <p:nvPr/>
        </p:nvSpPr>
        <p:spPr>
          <a:xfrm>
            <a:off x="4667250" y="4489450"/>
            <a:ext cx="56705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67250" y="4489450"/>
            <a:ext cx="5670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んー4、50人かな。人が集まって、懐かしい人にも会えて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270000" y="52768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270000" y="52768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 rot="16200000">
            <a:off x="1739900" y="54038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34" name="Shape 31"/>
          <p:cNvSpPr/>
          <p:nvPr/>
        </p:nvSpPr>
        <p:spPr>
          <a:xfrm>
            <a:off x="1854200" y="5213350"/>
            <a:ext cx="47244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854200" y="5213350"/>
            <a:ext cx="472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そんなに人が集まったんですね。すごいですね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すごいですよね。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すごいですよね。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24892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248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なんの先生なんですか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すごいですよね。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24892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248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なんの先生なんですか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8458200" y="30416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58200" y="30416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大学の教授で、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すごいですよね。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24892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248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なんの先生なんですか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8458200" y="30416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58200" y="30416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大学の教授で、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33020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330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大学、何の専門の教授ですか？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すごいですよね。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24892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248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なんの先生なんですか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8458200" y="30416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58200" y="30416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大学の教授で、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33020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330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大学、何の専門の教授ですか？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515600" y="45529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515600" y="45529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 rot="5400000">
            <a:off x="10299700" y="46799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9" name="Shape 26"/>
          <p:cNvSpPr/>
          <p:nvPr/>
        </p:nvSpPr>
        <p:spPr>
          <a:xfrm>
            <a:off x="7239000" y="44894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239000" y="44894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アジア社会学の先生ですね。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すごいですよね。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24892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248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なんの先生なんですか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8458200" y="30416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58200" y="30416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大学の教授で、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33020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330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大学、何の専門の教授ですか？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515600" y="45529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515600" y="45529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私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 rot="5400000">
            <a:off x="10299700" y="46799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9" name="Shape 26"/>
          <p:cNvSpPr/>
          <p:nvPr/>
        </p:nvSpPr>
        <p:spPr>
          <a:xfrm>
            <a:off x="7239000" y="44894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239000" y="44894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アジア社会学の先生ですね。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270000" y="52768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270000" y="52768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 rot="16200000">
            <a:off x="1739900" y="54038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34" name="Shape 31"/>
          <p:cNvSpPr/>
          <p:nvPr/>
        </p:nvSpPr>
        <p:spPr>
          <a:xfrm>
            <a:off x="1854200" y="5213350"/>
            <a:ext cx="28956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854200" y="5213350"/>
            <a:ext cx="2895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おぉ、私の大学の教授も…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ズレの正体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473200"/>
            <a:ext cx="9652000" cy="660400"/>
          </a:xfrm>
          <a:prstGeom prst="roundRect">
            <a:avLst>
              <a:gd name="adj" fmla="val 23077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1422400" y="16256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22400" y="16256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930400" y="1473200"/>
            <a:ext cx="381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「楽しかったんですね」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42000" y="171450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86500" y="1473200"/>
            <a:ext cx="444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相手が言っていない気持ちを、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先に決めつけている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70000" y="2222500"/>
            <a:ext cx="9652000" cy="660400"/>
          </a:xfrm>
          <a:prstGeom prst="roundRect">
            <a:avLst>
              <a:gd name="adj" fmla="val 23077"/>
            </a:avLst>
          </a:prstGeom>
          <a:solidFill>
            <a:srgbClr val="E3F7FD"/>
          </a:solidFill>
          <a:ln/>
        </p:spPr>
      </p:sp>
      <p:sp>
        <p:nvSpPr>
          <p:cNvPr id="13" name="Shape 10"/>
          <p:cNvSpPr/>
          <p:nvPr/>
        </p:nvSpPr>
        <p:spPr>
          <a:xfrm>
            <a:off x="1422400" y="23749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22400" y="23749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930400" y="2222500"/>
            <a:ext cx="381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「どういうところが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楽しかったんですか？」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42000" y="246380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86500" y="2222500"/>
            <a:ext cx="444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質問で、聞き手の知りたい方向へ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引っ張っている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70000" y="2971800"/>
            <a:ext cx="9652000" cy="660400"/>
          </a:xfrm>
          <a:prstGeom prst="roundRect">
            <a:avLst>
              <a:gd name="adj" fmla="val 23077"/>
            </a:avLst>
          </a:prstGeom>
          <a:solidFill>
            <a:srgbClr val="E3F7FD"/>
          </a:solidFill>
          <a:ln/>
        </p:spPr>
      </p:sp>
      <p:sp>
        <p:nvSpPr>
          <p:cNvPr id="19" name="Shape 16"/>
          <p:cNvSpPr/>
          <p:nvPr/>
        </p:nvSpPr>
        <p:spPr>
          <a:xfrm>
            <a:off x="1422400" y="31242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422400" y="31242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930400" y="2971800"/>
            <a:ext cx="381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「そんなに人が集まったんですね。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すごいですね」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842000" y="321310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86500" y="2971800"/>
            <a:ext cx="444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文章に言い換え、評価が入っている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270000" y="3721100"/>
            <a:ext cx="9652000" cy="660400"/>
          </a:xfrm>
          <a:prstGeom prst="roundRect">
            <a:avLst>
              <a:gd name="adj" fmla="val 23077"/>
            </a:avLst>
          </a:prstGeom>
          <a:solidFill>
            <a:srgbClr val="E3F7FD"/>
          </a:solidFill>
          <a:ln/>
        </p:spPr>
      </p:sp>
      <p:sp>
        <p:nvSpPr>
          <p:cNvPr id="25" name="Shape 22"/>
          <p:cNvSpPr/>
          <p:nvPr/>
        </p:nvSpPr>
        <p:spPr>
          <a:xfrm>
            <a:off x="1422400" y="38735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422400" y="38735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930400" y="3721100"/>
            <a:ext cx="381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「なんの先生なんですか」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「何の専門ですか」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42000" y="396240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86500" y="3721100"/>
            <a:ext cx="444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気持ちから情報へ。尋問のようになる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270000" y="4470400"/>
            <a:ext cx="9652000" cy="660400"/>
          </a:xfrm>
          <a:prstGeom prst="roundRect">
            <a:avLst>
              <a:gd name="adj" fmla="val 23077"/>
            </a:avLst>
          </a:prstGeom>
          <a:solidFill>
            <a:srgbClr val="E3F7FD"/>
          </a:solidFill>
          <a:ln/>
        </p:spPr>
      </p:sp>
      <p:sp>
        <p:nvSpPr>
          <p:cNvPr id="31" name="Shape 28"/>
          <p:cNvSpPr/>
          <p:nvPr/>
        </p:nvSpPr>
        <p:spPr>
          <a:xfrm>
            <a:off x="1422400" y="46228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422400" y="46228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930400" y="4470400"/>
            <a:ext cx="381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「私の大学の教授も…」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842000" y="471170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286500" y="4470400"/>
            <a:ext cx="444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" pitchFamily="34" charset="0"/>
                <a:ea typeface="Shippori Mincho B1" pitchFamily="34" charset="-122"/>
                <a:cs typeface="Shippori Mincho B1" pitchFamily="34" charset="-120"/>
              </a:rPr>
              <a:t>聞き手の話にすり替わる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270000" y="5270500"/>
            <a:ext cx="9652000" cy="508000"/>
          </a:xfrm>
          <a:prstGeom prst="roundRect">
            <a:avLst>
              <a:gd name="adj" fmla="val 25000"/>
            </a:avLst>
          </a:prstGeom>
          <a:solidFill>
            <a:srgbClr val="FFFBEA"/>
          </a:solidFill>
          <a:ln w="19050">
            <a:solidFill>
              <a:srgbClr val="F5DE81"/>
            </a:solidFill>
            <a:prstDash val="sysDot"/>
          </a:ln>
        </p:spPr>
      </p:sp>
      <p:sp>
        <p:nvSpPr>
          <p:cNvPr id="37" name="Text 34"/>
          <p:cNvSpPr txBox="1"/>
          <p:nvPr/>
        </p:nvSpPr>
        <p:spPr>
          <a:xfrm>
            <a:off x="1270000" y="5270500"/>
            <a:ext cx="965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F635B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結果：「懐かしい人にも会えて」が、</a:t>
            </a:r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B5FBF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拾われないまま終わる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000" y="1016000"/>
            <a:ext cx="9144000" cy="4826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524000" y="171450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97D74"/>
                </a:solidFill>
                <a:latin typeface="Shippori Mincho B1 SemiBold" pitchFamily="34" charset="0"/>
                <a:ea typeface="Shippori Mincho B1 SemiBold" pitchFamily="34" charset="-122"/>
                <a:cs typeface="Shippori Mincho B1 SemiBold" pitchFamily="34" charset="-120"/>
              </a:rPr>
              <a:t>ズレの正体</a:t>
            </a:r>
            <a:endParaRPr lang="en-US" sz="2000" dirty="0"/>
          </a:p>
        </p:txBody>
      </p:sp>
      <p:pic>
        <p:nvPicPr>
          <p:cNvPr id="5" name="Image 1" descr="/home/user/yumi/slides/part1/assets/deco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2190750"/>
            <a:ext cx="2857500" cy="2857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032000" y="2730500"/>
            <a:ext cx="812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Aさんに</a:t>
            </a:r>
            <a:pPr algn="ctr" indent="0" marL="0">
              <a:lnSpc>
                <a:spcPct val="140000"/>
              </a:lnSpc>
              <a:buNone/>
            </a:pPr>
            <a:r>
              <a:rPr lang="en-US" sz="4000" dirty="0">
                <a:solidFill>
                  <a:srgbClr val="8B5FBF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悪気はない</a:t>
            </a:r>
            <a:pPr algn="ctr" indent="0" marL="0">
              <a:lnSpc>
                <a:spcPct val="140000"/>
              </a:lnSpc>
              <a:buNone/>
            </a:pPr>
            <a:r>
              <a:rPr lang="en-US" sz="4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。</a:t>
            </a:r>
            <a:endParaRPr lang="en-US" sz="4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4000" dirty="0">
                <a:solidFill>
                  <a:srgbClr val="897D74"/>
                </a:solidFill>
                <a:latin typeface="Shippori Mincho B1 ExtraBold" pitchFamily="34" charset="0"/>
                <a:ea typeface="Shippori Mincho B1 ExtraBold" pitchFamily="34" charset="-122"/>
                <a:cs typeface="Shippori Mincho B1 ExtraBold" pitchFamily="34" charset="-120"/>
              </a:rPr>
              <a:t>よくある聞き方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1860550" y="1416050"/>
            <a:ext cx="88900" cy="889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4"/>
          <p:cNvSpPr/>
          <p:nvPr/>
        </p:nvSpPr>
        <p:spPr>
          <a:xfrm>
            <a:off x="2070100" y="16383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5"/>
          <p:cNvSpPr/>
          <p:nvPr/>
        </p:nvSpPr>
        <p:spPr>
          <a:xfrm>
            <a:off x="10236200" y="53467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6"/>
          <p:cNvSpPr/>
          <p:nvPr/>
        </p:nvSpPr>
        <p:spPr>
          <a:xfrm>
            <a:off x="10071100" y="55245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7"/>
          <p:cNvSpPr/>
          <p:nvPr/>
        </p:nvSpPr>
        <p:spPr>
          <a:xfrm>
            <a:off x="10445750" y="51879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心を掴んで“離さない”極意（第一部）</dc:title>
  <dc:subject>PptxGenJS Presentation</dc:subject>
  <dc:creator>PptxGenJS</dc:creator>
  <cp:lastModifiedBy>PptxGenJS</cp:lastModifiedBy>
  <cp:revision>1</cp:revision>
  <dcterms:created xsi:type="dcterms:W3CDTF">2026-09-30T04:03:41Z</dcterms:created>
  <dcterms:modified xsi:type="dcterms:W3CDTF">2026-09-30T04:03:41Z</dcterms:modified>
</cp:coreProperties>
</file>