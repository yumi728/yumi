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notesMasterIdLst>
    <p:notesMasterId r:id="rId7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【① 今日のゴールと3つのお約束｜約2分30秒】
・タイトル：心を掴んで“離さない”極意（副題：“はなさない”トーク交流会）
・次：章扉 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【① 今日のゴールと3つのお約束｜約2分30秒】
（章扉）
・今日のゴール：頑張って「話す」を手放す／「心を掴む」コミュニケーションを知る／明日からの人間関係が楽しみになる
・3つのお約束：否定しない・ジャッジしない／ここだけの話／時間を意識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【① 今日のゴールと3つのお約束｜約2分30秒】
・今日のゴール：頑張って「話す」を手放す／「心を掴む」コミュニケーションを知る／明日からの人間関係が楽しみになる
・次：今日の流れ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【① 今日のゴールと3つのお約束｜約2分30秒】
・今日の流れ：ミニセミナー「心を掴んで離さない極意」／実践ワーク／もう一つのミニセミナー「響く話し方」／お知らせ
・第二部の詳細は伏せる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【① 今日のゴールと3つのお約束｜約2分30秒】
・3つのお約束：否定しない・ジャッジしない／ここだけの話／時間を意識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【② 自己紹介｜約1分30秒】
（章扉）
・経歴と、心理学とスピリチュアルを学んで変わったこと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【② 自己紹介｜約1分30秒】
・経歴と、心理学とスピリチュアルを学んで変わったこと
・最後に口頭で一言：「今日は、初対面の緊張や、話しすぎの後悔を軽くする時間」
※このスライドの文字は講師が入力する（［ ］は入力欄の目印）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【③ こんなすれ違い、ありませんか？｜約3分】
（章扉）
・3つのすれ違いを見せ、「どれか、思い当たりますか？」と聞く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【③ こんなすれ違い、ありませんか？｜約3分】
・「はなさない」トークとは？：自分は話さないのに、相手の心を掴んで「離さない」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【③ こんなすれ違い、ありませんか？｜約3分】
・すれ違い① 初対面：自然に打ち解けたいのに、緊張して話しすぎる。または無言になる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【③ こんなすれ違い、ありませんか？｜約3分】
・すれ違い② 信頼される存在でいたいのに、自分ばかり話す。アドバイスしすぎて、後から「重かったかな」と後悔する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【③ こんなすれ違い、ありませんか？｜約3分】
・すれ違い③ 大切な人とわかり合いたいのに、言い方が悪かったのか、なぜか険悪になる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【③ こんなすれ違い、ありませんか？｜約3分】
・「どれか、思い当たりますか？」と一言聞く
・相手の心を掴むコツは、頑張って「話す」ことではない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【④ 心を掴むことを阻む6つの壁｜約2分】
（章扉）
・6つの壁を紹介する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【④ 心を掴むことを阻む6つの壁｜約2分】
・好感・親しみの壁：「なんとなく好きじゃない」「苦手なタイプかも」
・安心・信頼の壁：「この人に話して大丈夫かな」「何考えているかわからないな」
・タイミング・余裕の壁：「今は話したくない」「それどころじゃない」
・納得・共感の壁：「言っていることはわかる。けどなんか違う」「なんだか押し付けてくるなぁ」
・過去の経験・思い込みの壁：「どうせわかってもらえない」「この人は〇〇な人であるはず」
・価値観・文化の壁：「今の若者は…」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【⑤ 頑張るほど、距離ができてしまう｜約1分】
（章扉）
・改善しようとするほど、距離ができてしまう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【⑤ 頑張るほど、距離ができてしまう｜約1分】
・改善しようとして、説明する。説得する。話し方を変える。事前に準備する
・うまくいかないと、諦める。憤る
・結果：余計に距離ができる。噛み合わなくなる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【⑥「はなさない」トークで得られること｜約1分30秒】
（章扉）
・好感・親しみ、安心・信頼、納得・共感が得られ、3つの壁を越えられる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【⑥「はなさない」トークで得られること｜約1分30秒】
・6つの壁を、もう一度見せる
・好感・親しみの壁：「なんとなく好きじゃない」「苦手なタイプかも」
・安心・信頼の壁：「この人に話して大丈夫かな」「何考えているかわからないな」
・タイミング・余裕の壁：「今は話したくない」「それどころじゃない」
・納得・共感の壁：「言っていることはわかる。けどなんか違う」「なんだか押し付けてくるなぁ」
・過去の経験・思い込みの壁：「どうせわかってもらえない」「この人は〇〇な人であるはず」
・価値観・文化の壁：「今の若者は…」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【⑥「はなさない」トークで得られること｜約1分30秒】
・好感・親しみが得られる
・安心・信頼が得られる
・納得・共感される
・タイミング・余裕、過去の経験・思い込み、価値観・文化の壁を越えられる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【⑦ 大切なのは、話す内容より土壌づくり｜約1分30秒】
（章扉）
・話す内容より、土壌づくりが大切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【⑦ 大切なのは、話す内容より土壌づくり｜約1分30秒】
・どんなに言葉を磨いても、土壌が整っていなければ花は咲かない
・「うまく話せない」のは、頑張る方向が少しズレていただけ
・「この人と話したい」という土壌ができてはじめて、言葉は届く
・今日お伝えするのは、拍子抜けするほど簡単なテクニック。だからこそ、誰とでも、今日からすぐ使える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【⑧ 心を掴む鍵は、無意識に好感度をためること｜約3分】
（章扉）
・無意識に好感度をためる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【⑧ 心を掴む鍵は、無意識に好感度をためること｜約3分】
・「なんとなくこの人、好き」と思った経験はないか。理由は説明できないのに
・参加者に一言聞く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【⑧ 心を掴む鍵は、無意識に好感度をためること｜約3分】
・目指すのは、「なんとなく好き」「分かってくれる」と自然に思われること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【⑧ 心を掴む鍵は、無意識に好感度をためること｜約3分】
・意識（顕在意識）と、無意識（潜在意識）がある
・意識に働きかけるより、無意識に働きかけるほうが、速くて強力
・土壌に、好感度をためていくイメージ（⑦とつなげる）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【⑨「はなさないトーク」の3つの道具｜約2分】
（章扉）
・うなずき、相槌（アイヅチ）、受容ワード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【⑨「はなさないトーク」の3つの道具｜約2分】
・うなずき、相槌（アイヅチ）、受容ワード
・話す量ではなく、聞き方で好感度をためる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【⑨「はなさないトーク」の3つの道具｜約2分】
・聞かれるまでは説明しない（講座やセミナーは例外）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【⑩ 今日から使える3ステップ｜約7分】
（章扉）
・Step1 うなずき／Step2 相槌／Step3 受容ワード／とにかく、ジャッジしないことがカギ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【⑩ 今日から使える3ステップ｜約7分】
Step1 うなずき（約2分）
・無意識下に承認がたまる
・できていないと、「この人、聞いていない」と思われやすい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【⑩ 今日から使える3ステップ｜約7分】
Step2 相槌（約2分）
・あまり声を出さず、相手の間に合わせる
・ハ行を意識する（例：はい／へえ／ふーん／ほう）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【⑩ 今日から使える3ステップ｜約7分】
Step3 受容ワード（約2分）
・そのまま受け入れる（そうですよね／分かります／ありますよね／そうなんだ）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【⑩ 今日から使える3ステップ｜約7分】
・とにかく、ジャッジしないことがカギ（約1分）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（章扉）
・「簡単そう」「自分はできている」と思ったところで、次の会話を見てもらう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1/12】
今表示した行（私）：先週、師匠の還暦祝いに行ったんです
次の行（A）：おぉ、楽しかったんですね。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2/12】
今表示した行（A）：おぉ、楽しかったんですね。
次の行（私）：はい笑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3/12】
今表示した行（私）：はい笑
次の行（A）：どういうところが楽しかったんですか？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4/12】
今表示した行（A）：どういうところが楽しかったんですか？
次の行（私）：んー4、50人かな。人が集まって、懐かしい人にも会えて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5/12】
今表示した行（私）：んー4、50人かな。人が集まって、懐かしい人にも会えて
次の行（A）：そんなに人が集まったんですね。すごいですね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6/12】
今表示した行（A）：そんなに人が集まったんですね。すごいですね
次の行（私）：すごいですよね。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7/12】
今表示した行（私）：すごいですよね。
次の行（A）：なんの先生なんですか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8/12】
今表示した行（A）：なんの先生なんですか
次の行（私）：大学の教授で、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9/12】
今表示した行（私）：大学の教授で、
次の行（A）：大学、何の専門の教授ですか？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10/12】
今表示した行（A）：大学、何の専門の教授ですか？
次の行（私）：アジア社会学の先生ですね。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11/12】
今表示した行（私）：アジア社会学の先生ですね。
次の行（A）：おぉ、私の大学の教授も…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・「簡単そう」「自分はできている」と思ったところで、次の会話を見てもらう
・実演：「私」役と「A」役は事前に決めておく
・1行ずつ表示する。6行で次のページに切り替わる
【段階表示 12/12】
今表示した行（A）：おぉ、私の大学の教授も…
会話はここまで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・「どこがズレていたでしょう？」と参加者に投げかける（約1分）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解説（約2分）
・「楽しかったんですね」：相手が言っていない気持ちを、先に決めつけている
・「どういうところが楽しかったんですか？」：質問で、聞き手の知りたい方向へ引っ張っている
・「そんなに人が集まったんですね。すごいですね」：文章に言い換え、評価（ジャッジ）が入っている
・「なんの先生なんですか」「何の専門ですか」：話題が、気持ちから情報へ移り、質問が続いて尋問のようになる
・「私の大学の教授も…」：いつのまにか、聞き手の話にすり替わる
・結果：話し手が触れた「懐かしい人にも会えて」が、拾われないまま終わる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【⑪「聞いているつもり」の落とし穴｜約5分】
・Aさんに悪気はない。よくある聞き方
・つなぎ（約30秒）：じゃあ、どうすればいいか → 次の技へ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【⑫ 会話を広げる究極の技：KMB｜約6分】
（章扉）
・KMB＝極限まで短くバックトラッキング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【⑫ 会話を広げる究極の技：KMB｜約6分】
説明（約3分）
・KMB＝極限まで短くバックトラッキング
・単語＋（助詞）だけを、一文字も変えずに返す（鹿児島へ！／映画に！／喧嘩を！／鍋で！）
・相手からすると、「自分の言葉」が返ってくる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【⑫ 会話を広げる究極の技：KMB｜約6分】
・文章にして言い換えるオウム返しはNG（例：「昨日眠れなかったの」→「昨日は眠れなかったんですね」）
・短く返す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【⑫ 会話を広げる究極の技：KMB｜約6分】
同じ場面を、技を組み合わせて実演（約2分）
・気持ちは、相手が口にしてから受け取る（ズレる版は、相手が言う前に「楽しかったんですね」と決めつけていた）
・質問をしなくても、相手が自分から続きを話す
・最後まで、相手の話のまま
・実演では、うなずきを大きく、声は控えめに
・1行ずつ表示する。6行で次のページに切り替わる
【段階表示 1/10】
今表示した行（私）：先週、師匠の還暦祝いに行ったんです
次の行（A）：おぉ、還暦祝い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【⑫ 会話を広げる究極の技：KMB｜約6分】
同じ場面を、技を組み合わせて実演（約2分）
・気持ちは、相手が口にしてから受け取る（ズレる版は、相手が言う前に「楽しかったんですね」と決めつけていた）
・質問をしなくても、相手が自分から続きを話す
・最後まで、相手の話のまま
・実演では、うなずきを大きく、声は控えめに
・1行ずつ表示する。6行で次のページに切り替わる
【段階表示 2/10】
今表示した行（A）：おぉ、還暦祝い（感嘆＋KMB）
次の行（私）：そうなんです。4、50人集まってくれて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【⑫ 会話を広げる究極の技：KMB｜約6分】
同じ場面を、技を組み合わせて実演（約2分）
・気持ちは、相手が口にしてから受け取る（ズレる版は、相手が言う前に「楽しかったんですね」と決めつけていた）
・質問をしなくても、相手が自分から続きを話す
・最後まで、相手の話のまま
・実演では、うなずきを大きく、声は控えめに
・1行ずつ表示する。6行で次のページに切り替わる
【段階表示 3/10】
今表示した行（私）：そうなんです。4、50人集まってくれて
次の行（A）：えー！！4、50人！？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【⑫ 会話を広げる究極の技：KMB｜約6分】
同じ場面を、技を組み合わせて実演（約2分）
・気持ちは、相手が口にしてから受け取る（ズレる版は、相手が言う前に「楽しかったんですね」と決めつけていた）
・質問をしなくても、相手が自分から続きを話す
・最後まで、相手の話のまま
・実演では、うなずきを大きく、声は控えめに
・1行ずつ表示する。6行で次のページに切り替わる
【段階表示 4/10】
今表示した行（A）：えー！！4、50人！？（感嘆＋KMB）
次の行（私）：はい。懐かしい人にも会えて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【⑫ 会話を広げる究極の技：KMB｜約6分】
同じ場面を、技を組み合わせて実演（約2分）
・気持ちは、相手が口にしてから受け取る（ズレる版は、相手が言う前に「楽しかったんですね」と決めつけていた）
・質問をしなくても、相手が自分から続きを話す
・最後まで、相手の話のまま
・実演では、うなずきを大きく、声は控えめに
・1行ずつ表示する。6行で次のページに切り替わる
【段階表示 5/10】
今表示した行（私）：はい。懐かしい人にも会えて
次の行（A）：うんうん。そうだったんですねぇ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【⑫ 会話を広げる究極の技：KMB｜約6分】
同じ場面を、技を組み合わせて実演（約2分）
・気持ちは、相手が口にしてから受け取る（ズレる版は、相手が言う前に「楽しかったんですね」と決めつけていた）
・質問をしなくても、相手が自分から続きを話す
・最後まで、相手の話のまま
・実演では、うなずきを大きく、声は控えめに
・1行ずつ表示する。6行で次のページに切り替わる
【段階表示 6/10】
今表示した行（A）：うんうん。そうだったんですねぇ（うなずき＋受容ワード）
次の行（私）：大学の頃の先輩に、10年ぶりに会えたんです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【⑫ 会話を広げる究極の技：KMB｜約6分】
同じ場面を、技を組み合わせて実演（約2分）
・気持ちは、相手が口にしてから受け取る（ズレる版は、相手が言う前に「楽しかったんですね」と決めつけていた）
・質問をしなくても、相手が自分から続きを話す
・最後まで、相手の話のまま
・実演では、うなずきを大きく、声は控えめに
・1行ずつ表示する。6行で次のページに切り替わる
【段階表示 7/10】
今表示した行（私）：大学の頃の先輩に、10年ぶりに会えたんです
次の行（A）：10年ぶりかぁ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【⑫ 会話を広げる究極の技：KMB｜約6分】
同じ場面を、技を組み合わせて実演（約2分）
・気持ちは、相手が口にしてから受け取る（ズレる版は、相手が言う前に「楽しかったんですね」と決めつけていた）
・質問をしなくても、相手が自分から続きを話す
・最後まで、相手の話のまま
・実演では、うなずきを大きく、声は控えめに
・1行ずつ表示する。6行で次のページに切り替わる
【段階表示 8/10】
今表示した行（A）：10年ぶりかぁ（KMB）
次の行（私）：話し始めたら、一気に当時に戻った感じで嬉しくて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【⑫ 会話を広げる究極の技：KMB｜約6分】
同じ場面を、技を組み合わせて実演（約2分）
・気持ちは、相手が口にしてから受け取る（ズレる版は、相手が言う前に「楽しかったんですね」と決めつけていた）
・質問をしなくても、相手が自分から続きを話す
・最後まで、相手の話のまま
・実演では、うなずきを大きく、声は控えめに
・1行ずつ表示する。6行で次のページに切り替わる
【段階表示 9/10】
今表示した行（私）：話し始めたら、一気に当時に戻った感じで嬉しくて
次の行（A）：わぁそれは嬉しいですよね！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【⑫ 会話を広げる究極の技：KMB｜約6分】
同じ場面を、技を組み合わせて実演（約2分）
・気持ちは、相手が口にしてから受け取る（ズレる版は、相手が言う前に「楽しかったんですね」と決めつけていた）
・質問をしなくても、相手が自分から続きを話す
・最後まで、相手の話のまま
・実演では、うなずきを大きく、声は控えめに
・1行ずつ表示する。6行で次のページに切り替わる
【段階表示 10/10】
今表示した行（A）：わぁそれは嬉しいですよね！（共感ワード）
会話はここまで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【⑫ 会話を広げる究極の技：KMB｜約6分】
補足（約1分）
・KMBは、ここぞという言葉に使う。ほかの技と組み合わせる
・気持ちは、相手が口にしてから受け取る
・質問をしなくても、相手が自分から続きを話す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【⑬ まとめと、このあとの実践ワーク｜約3分（ほかに予備 約1分）】
（章扉）
・今日の道具：うなずき、相槌、受容ワード、KMB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【⑬ まとめと、このあとの実践ワーク｜約3分（ほかに予備 約1分）】
・今日の道具：うなずき、相槌、受容ワード、KMB
・説明せず、ジャッジせず、聞く。それだけで好感度はたまる
・簡単なスキルで、人間関係は変わる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【⑬ まとめと、このあとの実践ワーク｜約3分（ほかに予備 約1分）】
・実践のやり方：うなずき・相槌・受容ワード・KMBを使う
・テーマは「自己紹介〜私はこういう人です〜」
・このあと、実際に体験する（時間は当日の進行で調整）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【⑬ まとめと、このあとの実践ワーク｜約3分（ほかに予備 約1分）】
・カメラと目線を合わせる（意識では相手の顔だけを見ているつもりでも、無意識は画面全体を察知している）
・このあと、実際に体験する
（予備 約1分）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【実践ワーク：聞き上手を体験しよう｜別枠・約10分（時間は当日の進行で調整）】
（章扉）
・1回目：話し手と聞き手に分かれる／交代／締め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【実践ワーク：聞き上手を体験しよう｜別枠・約10分（時間は当日の進行で調整）】
1回目：話し手と聞き手に分かれる（目安 約4分）
・タイマーは別に動かす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【実践ワーク：聞き上手を体験しよう｜別枠・約10分（時間は当日の進行で調整）】
交代：役割を入れ替える（目安 約4分）
・タイマーは別に動かす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【実践ワーク：聞き上手を体験しよう｜別枠・約10分（時間は当日の進行で調整）】
締め（約2分）
・「今の体験を、覚えておいてください」
・感想の共有は、第二部の冒頭で行う
・次のセミナーへの一言（詳細は伏せる）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70000" y="952500"/>
            <a:ext cx="9652000" cy="495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1498600" y="1181100"/>
            <a:ext cx="9194800" cy="4495800"/>
          </a:xfrm>
          <a:prstGeom prst="rect">
            <a:avLst/>
          </a:prstGeom>
          <a:ln w="25400">
            <a:solidFill>
              <a:srgbClr val="F5DE81"/>
            </a:solidFill>
            <a:prstDash val="solid"/>
          </a:ln>
        </p:spPr>
      </p:sp>
      <p:pic>
        <p:nvPicPr>
          <p:cNvPr id="5" name="Image 1" descr="/home/user/yumi/slides/part1/assets/script-communic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1714500"/>
            <a:ext cx="5560961" cy="6985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98600" y="2667000"/>
            <a:ext cx="9194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52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心を掴んで“離さない”極意</a:t>
            </a:r>
            <a:endParaRPr lang="en-US" sz="5200" dirty="0"/>
          </a:p>
        </p:txBody>
      </p:sp>
      <p:pic>
        <p:nvPicPr>
          <p:cNvPr id="7" name="Image 2" descr="/home/user/yumi/slides/part1/assets/deco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810000"/>
            <a:ext cx="2857500" cy="28575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98600" y="4318000"/>
            <a:ext cx="9194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“はなさない”トーク交流会</a:t>
            </a:r>
            <a:endParaRPr lang="en-US" sz="2000" dirty="0"/>
          </a:p>
        </p:txBody>
      </p:sp>
      <p:sp>
        <p:nvSpPr>
          <p:cNvPr id="9" name="Shape 4"/>
          <p:cNvSpPr/>
          <p:nvPr/>
        </p:nvSpPr>
        <p:spPr>
          <a:xfrm>
            <a:off x="10356850" y="1403350"/>
            <a:ext cx="114300" cy="1143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5"/>
          <p:cNvSpPr/>
          <p:nvPr/>
        </p:nvSpPr>
        <p:spPr>
          <a:xfrm>
            <a:off x="10128250" y="1631950"/>
            <a:ext cx="63500" cy="635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6"/>
          <p:cNvSpPr/>
          <p:nvPr/>
        </p:nvSpPr>
        <p:spPr>
          <a:xfrm>
            <a:off x="10566400" y="18161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2" name="Shape 7"/>
          <p:cNvSpPr/>
          <p:nvPr/>
        </p:nvSpPr>
        <p:spPr>
          <a:xfrm>
            <a:off x="1727200" y="5410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3" name="Shape 8"/>
          <p:cNvSpPr/>
          <p:nvPr/>
        </p:nvSpPr>
        <p:spPr>
          <a:xfrm>
            <a:off x="1993900" y="52832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4" name="Shape 9"/>
          <p:cNvSpPr/>
          <p:nvPr/>
        </p:nvSpPr>
        <p:spPr>
          <a:xfrm>
            <a:off x="1644650" y="51752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pic>
        <p:nvPicPr>
          <p:cNvPr id="4" name="Image 1" descr="/home/user/yumi/slides/part1/assets/script-chapter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013" y="2095500"/>
            <a:ext cx="3037974" cy="76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16000" y="3048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今日のゴールと3つのお約束</a:t>
            </a:r>
            <a:endParaRPr lang="en-US" sz="3000" dirty="0"/>
          </a:p>
        </p:txBody>
      </p:sp>
      <p:pic>
        <p:nvPicPr>
          <p:cNvPr id="6" name="Image 2" descr="/home/user/yumi/slides/part1/assets/deco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873500"/>
            <a:ext cx="2857500" cy="2857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92200" y="109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3"/>
          <p:cNvSpPr/>
          <p:nvPr/>
        </p:nvSpPr>
        <p:spPr>
          <a:xfrm>
            <a:off x="1333500" y="1282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4"/>
          <p:cNvSpPr/>
          <p:nvPr/>
        </p:nvSpPr>
        <p:spPr>
          <a:xfrm>
            <a:off x="1047750" y="13906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5"/>
          <p:cNvSpPr/>
          <p:nvPr/>
        </p:nvSpPr>
        <p:spPr>
          <a:xfrm>
            <a:off x="10998200" y="5537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6"/>
          <p:cNvSpPr/>
          <p:nvPr/>
        </p:nvSpPr>
        <p:spPr>
          <a:xfrm>
            <a:off x="10807700" y="5727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2" name="Shape 7"/>
          <p:cNvSpPr/>
          <p:nvPr/>
        </p:nvSpPr>
        <p:spPr>
          <a:xfrm>
            <a:off x="11156950" y="53530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本日のゴール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79500" y="1701800"/>
            <a:ext cx="3175000" cy="3683000"/>
          </a:xfrm>
          <a:prstGeom prst="roundRect">
            <a:avLst>
              <a:gd name="adj" fmla="val 5600"/>
            </a:avLst>
          </a:prstGeom>
          <a:solidFill>
            <a:srgbClr val="E3F7FD"/>
          </a:solidFill>
          <a:ln/>
        </p:spPr>
      </p:sp>
      <p:sp>
        <p:nvSpPr>
          <p:cNvPr id="7" name="Shape 4"/>
          <p:cNvSpPr/>
          <p:nvPr/>
        </p:nvSpPr>
        <p:spPr>
          <a:xfrm>
            <a:off x="2032000" y="19304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032000" y="19304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Point01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31900" y="2400300"/>
            <a:ext cx="2870200" cy="283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8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頑張って</a:t>
            </a:r>
            <a:pPr algn="ctr" indent="0" marL="0">
              <a:lnSpc>
                <a:spcPct val="150000"/>
              </a:lnSpc>
              <a:buNone/>
            </a:pPr>
            <a:r>
              <a:rPr lang="ja-JP" altLang="en-US" sz="18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「話す」</a:t>
            </a:r>
            <a:pPr algn="ctr" indent="0" marL="0">
              <a:lnSpc>
                <a:spcPct val="150000"/>
              </a:lnSpc>
              <a:buNone/>
            </a:pPr>
            <a:r>
              <a:rPr lang="ja-JP" altLang="en-US" sz="18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を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ja-JP" altLang="en-US" sz="18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手放す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08500" y="1701800"/>
            <a:ext cx="3175000" cy="3683000"/>
          </a:xfrm>
          <a:prstGeom prst="roundRect">
            <a:avLst>
              <a:gd name="adj" fmla="val 5600"/>
            </a:avLst>
          </a:prstGeom>
          <a:solidFill>
            <a:srgbClr val="E3F7FD"/>
          </a:solidFill>
          <a:ln/>
        </p:spPr>
      </p:sp>
      <p:sp>
        <p:nvSpPr>
          <p:cNvPr id="11" name="Shape 8"/>
          <p:cNvSpPr/>
          <p:nvPr/>
        </p:nvSpPr>
        <p:spPr>
          <a:xfrm>
            <a:off x="5461000" y="19304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61000" y="19304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Point02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660900" y="2400300"/>
            <a:ext cx="2870200" cy="283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8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「心を掴む」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ja-JP" altLang="en-US" sz="18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コミュニケーションを知る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937500" y="1701800"/>
            <a:ext cx="3175000" cy="3683000"/>
          </a:xfrm>
          <a:prstGeom prst="roundRect">
            <a:avLst>
              <a:gd name="adj" fmla="val 5600"/>
            </a:avLst>
          </a:prstGeom>
          <a:solidFill>
            <a:srgbClr val="E3F7FD"/>
          </a:solidFill>
          <a:ln/>
        </p:spPr>
      </p:sp>
      <p:sp>
        <p:nvSpPr>
          <p:cNvPr id="15" name="Shape 12"/>
          <p:cNvSpPr/>
          <p:nvPr/>
        </p:nvSpPr>
        <p:spPr>
          <a:xfrm>
            <a:off x="8890000" y="19304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890000" y="19304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Point03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89900" y="2400300"/>
            <a:ext cx="2870200" cy="283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8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明日からの人間関係が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ja-JP" altLang="en-US" sz="18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楽しみになる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556000" cy="6858000"/>
          </a:xfrm>
          <a:prstGeom prst="rect">
            <a:avLst/>
          </a:prstGeom>
        </p:spPr>
      </p:pic>
      <p:pic>
        <p:nvPicPr>
          <p:cNvPr id="3" name="Image 1" descr="/home/user/yumi/slides/part1/assets/script-agen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81" y="2984500"/>
            <a:ext cx="2430639" cy="825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826000" y="1905000"/>
            <a:ext cx="482600" cy="482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5" name="Text 1"/>
          <p:cNvSpPr txBox="1"/>
          <p:nvPr/>
        </p:nvSpPr>
        <p:spPr>
          <a:xfrm>
            <a:off x="4826000" y="190500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22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588000" y="18415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ミニセミナー「心を掴んで離さない極意」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4826000" y="2730500"/>
            <a:ext cx="482600" cy="482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4826000" y="273050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22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5588000" y="26670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実践ワーク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826000" y="3556000"/>
            <a:ext cx="482600" cy="482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826000" y="355600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22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5588000" y="34925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もう一つのミニセミナー「響く話し方」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826000" y="4381500"/>
            <a:ext cx="482600" cy="482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826000" y="438150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22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5588000" y="4318000"/>
            <a:ext cx="609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お知らせ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10744200" y="5537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7" name="Shape 13"/>
          <p:cNvSpPr/>
          <p:nvPr/>
        </p:nvSpPr>
        <p:spPr>
          <a:xfrm>
            <a:off x="11023600" y="57531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8" name="Shape 14"/>
          <p:cNvSpPr/>
          <p:nvPr/>
        </p:nvSpPr>
        <p:spPr>
          <a:xfrm>
            <a:off x="10547350" y="58864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9" name="Shape 15"/>
          <p:cNvSpPr/>
          <p:nvPr/>
        </p:nvSpPr>
        <p:spPr>
          <a:xfrm>
            <a:off x="11156950" y="53784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心地よい場作りのための「3つのお約束」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79500" y="1701800"/>
            <a:ext cx="3175000" cy="3683000"/>
          </a:xfrm>
          <a:prstGeom prst="roundRect">
            <a:avLst>
              <a:gd name="adj" fmla="val 5600"/>
            </a:avLst>
          </a:prstGeom>
          <a:solidFill>
            <a:srgbClr val="E3F7FD"/>
          </a:solidFill>
          <a:ln/>
        </p:spPr>
      </p:sp>
      <p:sp>
        <p:nvSpPr>
          <p:cNvPr id="7" name="Shape 4"/>
          <p:cNvSpPr/>
          <p:nvPr/>
        </p:nvSpPr>
        <p:spPr>
          <a:xfrm>
            <a:off x="2032000" y="19304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032000" y="19304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01.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31900" y="2400300"/>
            <a:ext cx="2870200" cy="283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spcAft>
                <a:spcPts val="1800"/>
              </a:spcAft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否定しない</a:t>
            </a:r>
            <a:endParaRPr lang="en-US" sz="2000" dirty="0"/>
          </a:p>
          <a:p>
            <a:pPr algn="ctr" indent="0" marL="0">
              <a:lnSpc>
                <a:spcPct val="145000"/>
              </a:lnSpc>
              <a:spcAft>
                <a:spcPts val="1800"/>
              </a:spcAft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ジャッジしない</a:t>
            </a:r>
            <a:endParaRPr lang="en-US" sz="2000" dirty="0"/>
          </a:p>
          <a:p>
            <a:pPr algn="ctr" indent="0" marL="0">
              <a:lnSpc>
                <a:spcPct val="145000"/>
              </a:lnSpc>
              <a:spcAft>
                <a:spcPts val="18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どんな意見も</a:t>
            </a:r>
            <a:endParaRPr lang="en-US" sz="2000" dirty="0"/>
          </a:p>
          <a:p>
            <a:pPr algn="ctr" indent="0" marL="0">
              <a:lnSpc>
                <a:spcPct val="145000"/>
              </a:lnSpc>
              <a:spcAft>
                <a:spcPts val="18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「まずは受け止める」</a:t>
            </a:r>
            <a:endParaRPr lang="en-US" sz="2000" dirty="0"/>
          </a:p>
          <a:p>
            <a:pPr algn="ctr" indent="0" marL="0">
              <a:lnSpc>
                <a:spcPct val="145000"/>
              </a:lnSpc>
              <a:spcAft>
                <a:spcPts val="18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安心な場に。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08500" y="1701800"/>
            <a:ext cx="3175000" cy="3683000"/>
          </a:xfrm>
          <a:prstGeom prst="roundRect">
            <a:avLst>
              <a:gd name="adj" fmla="val 5600"/>
            </a:avLst>
          </a:prstGeom>
          <a:solidFill>
            <a:srgbClr val="E3F7FD"/>
          </a:solidFill>
          <a:ln/>
        </p:spPr>
      </p:sp>
      <p:sp>
        <p:nvSpPr>
          <p:cNvPr id="11" name="Shape 8"/>
          <p:cNvSpPr/>
          <p:nvPr/>
        </p:nvSpPr>
        <p:spPr>
          <a:xfrm>
            <a:off x="5461000" y="19304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61000" y="19304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02.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660900" y="2400300"/>
            <a:ext cx="2870200" cy="283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spcAft>
                <a:spcPts val="1800"/>
              </a:spcAft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ここだけの話</a:t>
            </a:r>
            <a:endParaRPr lang="en-US" sz="2000" dirty="0"/>
          </a:p>
          <a:p>
            <a:pPr algn="ctr" indent="0" marL="0">
              <a:lnSpc>
                <a:spcPct val="145000"/>
              </a:lnSpc>
              <a:spcAft>
                <a:spcPts val="18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安心して話せるよう、</a:t>
            </a:r>
            <a:endParaRPr lang="en-US" sz="2000" dirty="0"/>
          </a:p>
          <a:p>
            <a:pPr algn="ctr" indent="0" marL="0">
              <a:lnSpc>
                <a:spcPct val="145000"/>
              </a:lnSpc>
              <a:spcAft>
                <a:spcPts val="18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守秘義務を守りましょう。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937500" y="1701800"/>
            <a:ext cx="3175000" cy="3683000"/>
          </a:xfrm>
          <a:prstGeom prst="roundRect">
            <a:avLst>
              <a:gd name="adj" fmla="val 5600"/>
            </a:avLst>
          </a:prstGeom>
          <a:solidFill>
            <a:srgbClr val="E3F7FD"/>
          </a:solidFill>
          <a:ln/>
        </p:spPr>
      </p:sp>
      <p:sp>
        <p:nvSpPr>
          <p:cNvPr id="15" name="Shape 12"/>
          <p:cNvSpPr/>
          <p:nvPr/>
        </p:nvSpPr>
        <p:spPr>
          <a:xfrm>
            <a:off x="8890000" y="19304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890000" y="19304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03.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89900" y="2400300"/>
            <a:ext cx="2870200" cy="283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spcAft>
                <a:spcPts val="1800"/>
              </a:spcAft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時間を意識</a:t>
            </a:r>
            <a:endParaRPr lang="en-US" sz="2000" dirty="0"/>
          </a:p>
          <a:p>
            <a:pPr algn="ctr" indent="0" marL="0">
              <a:lnSpc>
                <a:spcPct val="145000"/>
              </a:lnSpc>
              <a:spcAft>
                <a:spcPts val="18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全員が楽しく話せるよう、</a:t>
            </a:r>
            <a:endParaRPr lang="en-US" sz="2000" dirty="0"/>
          </a:p>
          <a:p>
            <a:pPr algn="ctr" indent="0" marL="0">
              <a:lnSpc>
                <a:spcPct val="145000"/>
              </a:lnSpc>
              <a:spcAft>
                <a:spcPts val="18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時間オーバーに注意♡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pic>
        <p:nvPicPr>
          <p:cNvPr id="4" name="Image 1" descr="/home/user/yumi/slides/part1/assets/script-chapter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776" y="2095500"/>
            <a:ext cx="3218447" cy="76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16000" y="3048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自己紹介</a:t>
            </a:r>
            <a:endParaRPr lang="en-US" sz="3000" dirty="0"/>
          </a:p>
        </p:txBody>
      </p:sp>
      <p:pic>
        <p:nvPicPr>
          <p:cNvPr id="6" name="Image 2" descr="/home/user/yumi/slides/part1/assets/deco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873500"/>
            <a:ext cx="2857500" cy="2857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92200" y="109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3"/>
          <p:cNvSpPr/>
          <p:nvPr/>
        </p:nvSpPr>
        <p:spPr>
          <a:xfrm>
            <a:off x="1333500" y="1282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4"/>
          <p:cNvSpPr/>
          <p:nvPr/>
        </p:nvSpPr>
        <p:spPr>
          <a:xfrm>
            <a:off x="1047750" y="13906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5"/>
          <p:cNvSpPr/>
          <p:nvPr/>
        </p:nvSpPr>
        <p:spPr>
          <a:xfrm>
            <a:off x="10998200" y="5537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6"/>
          <p:cNvSpPr/>
          <p:nvPr/>
        </p:nvSpPr>
        <p:spPr>
          <a:xfrm>
            <a:off x="10807700" y="5727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2" name="Shape 7"/>
          <p:cNvSpPr/>
          <p:nvPr/>
        </p:nvSpPr>
        <p:spPr>
          <a:xfrm>
            <a:off x="11156950" y="53530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自己紹介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651000" y="1905000"/>
            <a:ext cx="2794000" cy="2794000"/>
          </a:xfrm>
          <a:prstGeom prst="ellipse">
            <a:avLst/>
          </a:prstGeom>
          <a:solidFill>
            <a:srgbClr val="E3F7F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651000" y="1905000"/>
            <a:ext cx="279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［写真］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80000" y="184150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［お名前］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80000" y="2476500"/>
            <a:ext cx="571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16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［肩書き］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0" y="3048000"/>
            <a:ext cx="5715000" cy="2286000"/>
          </a:xfrm>
          <a:prstGeom prst="roundRect">
            <a:avLst>
              <a:gd name="adj" fmla="val 7778"/>
            </a:avLst>
          </a:prstGeom>
          <a:solidFill>
            <a:srgbClr val="E3F7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334000" y="3238500"/>
            <a:ext cx="520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［経歴］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pic>
        <p:nvPicPr>
          <p:cNvPr id="4" name="Image 1" descr="/home/user/yumi/slides/part1/assets/script-chapter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868" y="2095500"/>
            <a:ext cx="3148263" cy="76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16000" y="3048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こんなすれ違い、ありませんか？</a:t>
            </a:r>
            <a:endParaRPr lang="en-US" sz="3000" dirty="0"/>
          </a:p>
        </p:txBody>
      </p:sp>
      <p:pic>
        <p:nvPicPr>
          <p:cNvPr id="6" name="Image 2" descr="/home/user/yumi/slides/part1/assets/deco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873500"/>
            <a:ext cx="2857500" cy="2857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92200" y="109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3"/>
          <p:cNvSpPr/>
          <p:nvPr/>
        </p:nvSpPr>
        <p:spPr>
          <a:xfrm>
            <a:off x="1333500" y="1282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4"/>
          <p:cNvSpPr/>
          <p:nvPr/>
        </p:nvSpPr>
        <p:spPr>
          <a:xfrm>
            <a:off x="1047750" y="13906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5"/>
          <p:cNvSpPr/>
          <p:nvPr/>
        </p:nvSpPr>
        <p:spPr>
          <a:xfrm>
            <a:off x="10998200" y="5537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6"/>
          <p:cNvSpPr/>
          <p:nvPr/>
        </p:nvSpPr>
        <p:spPr>
          <a:xfrm>
            <a:off x="10807700" y="5727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2" name="Shape 7"/>
          <p:cNvSpPr/>
          <p:nvPr/>
        </p:nvSpPr>
        <p:spPr>
          <a:xfrm>
            <a:off x="11156950" y="53530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4000" y="1016000"/>
            <a:ext cx="9144000" cy="4826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905000" y="1905000"/>
            <a:ext cx="838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“はなさない”トーク</a:t>
            </a:r>
            <a:endParaRPr lang="en-US" sz="4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とは？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1860550" y="1416050"/>
            <a:ext cx="88900" cy="889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6" name="Shape 3"/>
          <p:cNvSpPr/>
          <p:nvPr/>
        </p:nvSpPr>
        <p:spPr>
          <a:xfrm>
            <a:off x="2070100" y="16383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7" name="Shape 4"/>
          <p:cNvSpPr/>
          <p:nvPr/>
        </p:nvSpPr>
        <p:spPr>
          <a:xfrm>
            <a:off x="10236200" y="53467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5"/>
          <p:cNvSpPr/>
          <p:nvPr/>
        </p:nvSpPr>
        <p:spPr>
          <a:xfrm>
            <a:off x="10071100" y="55245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6"/>
          <p:cNvSpPr/>
          <p:nvPr/>
        </p:nvSpPr>
        <p:spPr>
          <a:xfrm>
            <a:off x="10445750" y="51879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Communication Error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270000" y="1587500"/>
            <a:ext cx="9652000" cy="1270000"/>
          </a:xfrm>
          <a:prstGeom prst="roundRect">
            <a:avLst>
              <a:gd name="adj" fmla="val 14000"/>
            </a:avLst>
          </a:prstGeom>
          <a:solidFill>
            <a:srgbClr val="E3F7F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24000" y="1587500"/>
            <a:ext cx="914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初対面でも自然に打ち解けて、</a:t>
            </a:r>
            <a:endParaRPr lang="en-US" sz="20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「また会いたい」と思ってもらいたい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 rot="10800000">
            <a:off x="5867400" y="3035300"/>
            <a:ext cx="457200" cy="330200"/>
          </a:xfrm>
          <a:prstGeom prst="triangle">
            <a:avLst/>
          </a:prstGeom>
          <a:solidFill>
            <a:srgbClr val="F5DE81"/>
          </a:solidFill>
          <a:ln/>
        </p:spPr>
      </p:sp>
      <p:sp>
        <p:nvSpPr>
          <p:cNvPr id="9" name="Shape 6"/>
          <p:cNvSpPr/>
          <p:nvPr/>
        </p:nvSpPr>
        <p:spPr>
          <a:xfrm>
            <a:off x="1270000" y="3530600"/>
            <a:ext cx="9652000" cy="20955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28575">
            <a:solidFill>
              <a:srgbClr val="EBA3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24000" y="3530600"/>
            <a:ext cx="914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ja-JP" altLang="en-US" sz="18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緊張して自分のことを話しすぎてしまったり、</a:t>
            </a:r>
            <a:endParaRPr lang="en-US" sz="18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ja-JP" altLang="en-US" sz="18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逆に無言になってしまったりして、</a:t>
            </a:r>
            <a:endParaRPr lang="en-US" sz="18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ja-JP" altLang="en-US" sz="1800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なんか噛み合わないまま終わってしまう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Communication Error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270000" y="1587500"/>
            <a:ext cx="9652000" cy="1270000"/>
          </a:xfrm>
          <a:prstGeom prst="roundRect">
            <a:avLst>
              <a:gd name="adj" fmla="val 14000"/>
            </a:avLst>
          </a:prstGeom>
          <a:solidFill>
            <a:srgbClr val="E3F7F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24000" y="1587500"/>
            <a:ext cx="914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「この人に話してよかった」と思ってもらえる、</a:t>
            </a:r>
            <a:endParaRPr lang="en-US" sz="20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信頼される存在でいたい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 rot="10800000">
            <a:off x="5867400" y="3035300"/>
            <a:ext cx="457200" cy="330200"/>
          </a:xfrm>
          <a:prstGeom prst="triangle">
            <a:avLst/>
          </a:prstGeom>
          <a:solidFill>
            <a:srgbClr val="F5DE81"/>
          </a:solidFill>
          <a:ln/>
        </p:spPr>
      </p:sp>
      <p:sp>
        <p:nvSpPr>
          <p:cNvPr id="9" name="Shape 6"/>
          <p:cNvSpPr/>
          <p:nvPr/>
        </p:nvSpPr>
        <p:spPr>
          <a:xfrm>
            <a:off x="1270000" y="3530600"/>
            <a:ext cx="9652000" cy="20955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28575">
            <a:solidFill>
              <a:srgbClr val="EBA3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24000" y="3530600"/>
            <a:ext cx="914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ja-JP" altLang="en-US" sz="18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気づいたら自分ばかり話していたり、</a:t>
            </a:r>
            <a:endParaRPr lang="en-US" sz="18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ja-JP" altLang="en-US" sz="18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アドバイスしすぎてしまったりして、</a:t>
            </a:r>
            <a:endParaRPr lang="en-US" sz="18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ja-JP" altLang="en-US" sz="1800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「なんか重かったかな…」と後から後悔する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Communication Error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270000" y="1587500"/>
            <a:ext cx="9652000" cy="1270000"/>
          </a:xfrm>
          <a:prstGeom prst="roundRect">
            <a:avLst>
              <a:gd name="adj" fmla="val 14000"/>
            </a:avLst>
          </a:prstGeom>
          <a:solidFill>
            <a:srgbClr val="E3F7F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24000" y="1587500"/>
            <a:ext cx="914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大切な人とわかり合いたい。</a:t>
            </a:r>
            <a:endParaRPr lang="en-US" sz="20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ちゃんと気持ちを伝えて、相手の気持ちも聞きたい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 rot="10800000">
            <a:off x="5867400" y="3035300"/>
            <a:ext cx="457200" cy="330200"/>
          </a:xfrm>
          <a:prstGeom prst="triangle">
            <a:avLst/>
          </a:prstGeom>
          <a:solidFill>
            <a:srgbClr val="F5DE81"/>
          </a:solidFill>
          <a:ln/>
        </p:spPr>
      </p:sp>
      <p:sp>
        <p:nvSpPr>
          <p:cNvPr id="9" name="Shape 6"/>
          <p:cNvSpPr/>
          <p:nvPr/>
        </p:nvSpPr>
        <p:spPr>
          <a:xfrm>
            <a:off x="1270000" y="3530600"/>
            <a:ext cx="9652000" cy="209550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28575">
            <a:solidFill>
              <a:srgbClr val="EBA3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24000" y="3530600"/>
            <a:ext cx="914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ja-JP" altLang="en-US" sz="18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言い方が悪かったのか、なぜか険悪になってしまう。</a:t>
            </a:r>
            <a:endParaRPr lang="en-US" sz="18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ja-JP" altLang="en-US" sz="18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言いたいことが伝わらないまま、</a:t>
            </a:r>
            <a:endParaRPr lang="en-US" sz="18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ja-JP" altLang="en-US" sz="1800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お互いモヤモヤして終わる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どれか、思い当たりますか？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79500" y="1587500"/>
            <a:ext cx="3175000" cy="2794000"/>
          </a:xfrm>
          <a:prstGeom prst="roundRect">
            <a:avLst>
              <a:gd name="adj" fmla="val 6364"/>
            </a:avLst>
          </a:prstGeom>
          <a:solidFill>
            <a:srgbClr val="E3F7FD"/>
          </a:solidFill>
          <a:ln/>
        </p:spPr>
      </p:sp>
      <p:sp>
        <p:nvSpPr>
          <p:cNvPr id="7" name="Shape 4"/>
          <p:cNvSpPr/>
          <p:nvPr/>
        </p:nvSpPr>
        <p:spPr>
          <a:xfrm>
            <a:off x="2286000" y="1841500"/>
            <a:ext cx="762000" cy="7620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286000" y="18415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2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1231900" y="2794000"/>
            <a:ext cx="28702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初対面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08500" y="1587500"/>
            <a:ext cx="3175000" cy="2794000"/>
          </a:xfrm>
          <a:prstGeom prst="roundRect">
            <a:avLst>
              <a:gd name="adj" fmla="val 6364"/>
            </a:avLst>
          </a:prstGeom>
          <a:solidFill>
            <a:srgbClr val="E3F7FD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0" y="1841500"/>
            <a:ext cx="762000" cy="7620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15000" y="18415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2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4660900" y="2794000"/>
            <a:ext cx="28702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信頼される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存在でいたい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937500" y="1587500"/>
            <a:ext cx="3175000" cy="2794000"/>
          </a:xfrm>
          <a:prstGeom prst="roundRect">
            <a:avLst>
              <a:gd name="adj" fmla="val 6364"/>
            </a:avLst>
          </a:prstGeom>
          <a:solidFill>
            <a:srgbClr val="E3F7FD"/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0" y="1841500"/>
            <a:ext cx="762000" cy="7620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44000" y="18415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2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8089900" y="2794000"/>
            <a:ext cx="28702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大切な人と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わかり合いたい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1270000" y="4699000"/>
            <a:ext cx="9652000" cy="635000"/>
          </a:xfrm>
          <a:prstGeom prst="roundRect">
            <a:avLst>
              <a:gd name="adj" fmla="val 20000"/>
            </a:avLst>
          </a:prstGeom>
          <a:solidFill>
            <a:srgbClr val="FFFBEA"/>
          </a:solidFill>
          <a:ln w="19050">
            <a:solidFill>
              <a:srgbClr val="F5DE81"/>
            </a:solidFill>
            <a:prstDash val="sysDot"/>
          </a:ln>
        </p:spPr>
      </p:sp>
      <p:sp>
        <p:nvSpPr>
          <p:cNvPr id="19" name="Text 16"/>
          <p:cNvSpPr txBox="1"/>
          <p:nvPr/>
        </p:nvSpPr>
        <p:spPr>
          <a:xfrm>
            <a:off x="1422400" y="4699000"/>
            <a:ext cx="9347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相手の心を掴むコツは、頑張って</a:t>
            </a:r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『話す』ことではない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pic>
        <p:nvPicPr>
          <p:cNvPr id="4" name="Image 1" descr="/home/user/yumi/slides/part1/assets/script-chapter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868" y="2095500"/>
            <a:ext cx="3148263" cy="76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16000" y="3048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心を掴むことを阻む6つの壁</a:t>
            </a:r>
            <a:endParaRPr lang="en-US" sz="3000" dirty="0"/>
          </a:p>
        </p:txBody>
      </p:sp>
      <p:pic>
        <p:nvPicPr>
          <p:cNvPr id="6" name="Image 2" descr="/home/user/yumi/slides/part1/assets/deco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873500"/>
            <a:ext cx="2857500" cy="2857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92200" y="109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3"/>
          <p:cNvSpPr/>
          <p:nvPr/>
        </p:nvSpPr>
        <p:spPr>
          <a:xfrm>
            <a:off x="1333500" y="1282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4"/>
          <p:cNvSpPr/>
          <p:nvPr/>
        </p:nvSpPr>
        <p:spPr>
          <a:xfrm>
            <a:off x="1047750" y="13906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5"/>
          <p:cNvSpPr/>
          <p:nvPr/>
        </p:nvSpPr>
        <p:spPr>
          <a:xfrm>
            <a:off x="10998200" y="5537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6"/>
          <p:cNvSpPr/>
          <p:nvPr/>
        </p:nvSpPr>
        <p:spPr>
          <a:xfrm>
            <a:off x="10807700" y="5727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2" name="Shape 7"/>
          <p:cNvSpPr/>
          <p:nvPr/>
        </p:nvSpPr>
        <p:spPr>
          <a:xfrm>
            <a:off x="11156950" y="53530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コミュニケーションを阻む「壁」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270000" y="14986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/>
        </p:spPr>
      </p:sp>
      <p:sp>
        <p:nvSpPr>
          <p:cNvPr id="7" name="Shape 4"/>
          <p:cNvSpPr/>
          <p:nvPr/>
        </p:nvSpPr>
        <p:spPr>
          <a:xfrm>
            <a:off x="1447800" y="18351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568704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9" name="Shape 6"/>
          <p:cNvSpPr/>
          <p:nvPr/>
        </p:nvSpPr>
        <p:spPr>
          <a:xfrm>
            <a:off x="1732280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0" name="Shape 7"/>
          <p:cNvSpPr/>
          <p:nvPr/>
        </p:nvSpPr>
        <p:spPr>
          <a:xfrm>
            <a:off x="1895856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1" name="Shape 8"/>
          <p:cNvSpPr/>
          <p:nvPr/>
        </p:nvSpPr>
        <p:spPr>
          <a:xfrm>
            <a:off x="1650492" y="21480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2" name="Shape 9"/>
          <p:cNvSpPr/>
          <p:nvPr/>
        </p:nvSpPr>
        <p:spPr>
          <a:xfrm>
            <a:off x="1814068" y="21480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3" name="Shape 10"/>
          <p:cNvSpPr/>
          <p:nvPr/>
        </p:nvSpPr>
        <p:spPr>
          <a:xfrm>
            <a:off x="1568704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4" name="Shape 11"/>
          <p:cNvSpPr/>
          <p:nvPr/>
        </p:nvSpPr>
        <p:spPr>
          <a:xfrm>
            <a:off x="1732280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5" name="Shape 12"/>
          <p:cNvSpPr/>
          <p:nvPr/>
        </p:nvSpPr>
        <p:spPr>
          <a:xfrm>
            <a:off x="1895856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336800" y="15621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好感・親しみの壁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「なんとなく好きじゃない」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「苦手なタイプかも・・・」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223000" y="14986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/>
        </p:spPr>
      </p:sp>
      <p:sp>
        <p:nvSpPr>
          <p:cNvPr id="18" name="Shape 15"/>
          <p:cNvSpPr/>
          <p:nvPr/>
        </p:nvSpPr>
        <p:spPr>
          <a:xfrm>
            <a:off x="6400800" y="18351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521704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0" name="Shape 17"/>
          <p:cNvSpPr/>
          <p:nvPr/>
        </p:nvSpPr>
        <p:spPr>
          <a:xfrm>
            <a:off x="6685280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1" name="Shape 18"/>
          <p:cNvSpPr/>
          <p:nvPr/>
        </p:nvSpPr>
        <p:spPr>
          <a:xfrm>
            <a:off x="6848856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2" name="Shape 19"/>
          <p:cNvSpPr/>
          <p:nvPr/>
        </p:nvSpPr>
        <p:spPr>
          <a:xfrm>
            <a:off x="6603492" y="21480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3" name="Shape 20"/>
          <p:cNvSpPr/>
          <p:nvPr/>
        </p:nvSpPr>
        <p:spPr>
          <a:xfrm>
            <a:off x="6767068" y="21480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4" name="Shape 21"/>
          <p:cNvSpPr/>
          <p:nvPr/>
        </p:nvSpPr>
        <p:spPr>
          <a:xfrm>
            <a:off x="6521704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5" name="Shape 22"/>
          <p:cNvSpPr/>
          <p:nvPr/>
        </p:nvSpPr>
        <p:spPr>
          <a:xfrm>
            <a:off x="6685280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6" name="Shape 23"/>
          <p:cNvSpPr/>
          <p:nvPr/>
        </p:nvSpPr>
        <p:spPr>
          <a:xfrm>
            <a:off x="6848856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289800" y="15621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安心・信頼の壁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「この人に話して大丈夫かな」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「何考えているかわからないな」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270000" y="29845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/>
        </p:spPr>
      </p:sp>
      <p:sp>
        <p:nvSpPr>
          <p:cNvPr id="29" name="Shape 26"/>
          <p:cNvSpPr/>
          <p:nvPr/>
        </p:nvSpPr>
        <p:spPr>
          <a:xfrm>
            <a:off x="1447800" y="33210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1568704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1" name="Shape 28"/>
          <p:cNvSpPr/>
          <p:nvPr/>
        </p:nvSpPr>
        <p:spPr>
          <a:xfrm>
            <a:off x="1732280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2" name="Shape 29"/>
          <p:cNvSpPr/>
          <p:nvPr/>
        </p:nvSpPr>
        <p:spPr>
          <a:xfrm>
            <a:off x="1895856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3" name="Shape 30"/>
          <p:cNvSpPr/>
          <p:nvPr/>
        </p:nvSpPr>
        <p:spPr>
          <a:xfrm>
            <a:off x="1650492" y="36339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4" name="Shape 31"/>
          <p:cNvSpPr/>
          <p:nvPr/>
        </p:nvSpPr>
        <p:spPr>
          <a:xfrm>
            <a:off x="1814068" y="36339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5" name="Shape 32"/>
          <p:cNvSpPr/>
          <p:nvPr/>
        </p:nvSpPr>
        <p:spPr>
          <a:xfrm>
            <a:off x="1568704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6" name="Shape 33"/>
          <p:cNvSpPr/>
          <p:nvPr/>
        </p:nvSpPr>
        <p:spPr>
          <a:xfrm>
            <a:off x="1732280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7" name="Shape 34"/>
          <p:cNvSpPr/>
          <p:nvPr/>
        </p:nvSpPr>
        <p:spPr>
          <a:xfrm>
            <a:off x="1895856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2336800" y="30480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タイミング・余裕の壁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「今は話したくない」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「それどころじゃない」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6223000" y="29845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/>
        </p:spPr>
      </p:sp>
      <p:sp>
        <p:nvSpPr>
          <p:cNvPr id="40" name="Shape 37"/>
          <p:cNvSpPr/>
          <p:nvPr/>
        </p:nvSpPr>
        <p:spPr>
          <a:xfrm>
            <a:off x="6400800" y="33210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6521704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2" name="Shape 39"/>
          <p:cNvSpPr/>
          <p:nvPr/>
        </p:nvSpPr>
        <p:spPr>
          <a:xfrm>
            <a:off x="6685280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3" name="Shape 40"/>
          <p:cNvSpPr/>
          <p:nvPr/>
        </p:nvSpPr>
        <p:spPr>
          <a:xfrm>
            <a:off x="6848856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4" name="Shape 41"/>
          <p:cNvSpPr/>
          <p:nvPr/>
        </p:nvSpPr>
        <p:spPr>
          <a:xfrm>
            <a:off x="6603492" y="36339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5" name="Shape 42"/>
          <p:cNvSpPr/>
          <p:nvPr/>
        </p:nvSpPr>
        <p:spPr>
          <a:xfrm>
            <a:off x="6767068" y="36339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6" name="Shape 43"/>
          <p:cNvSpPr/>
          <p:nvPr/>
        </p:nvSpPr>
        <p:spPr>
          <a:xfrm>
            <a:off x="6521704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7" name="Shape 44"/>
          <p:cNvSpPr/>
          <p:nvPr/>
        </p:nvSpPr>
        <p:spPr>
          <a:xfrm>
            <a:off x="6685280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8" name="Shape 45"/>
          <p:cNvSpPr/>
          <p:nvPr/>
        </p:nvSpPr>
        <p:spPr>
          <a:xfrm>
            <a:off x="6848856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7289800" y="30480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納得・共感の壁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「言っていることはわかる。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けどなんか違う」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「なんだか押し付けてくるなぁ」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1270000" y="44704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/>
        </p:spPr>
      </p:sp>
      <p:sp>
        <p:nvSpPr>
          <p:cNvPr id="51" name="Shape 48"/>
          <p:cNvSpPr/>
          <p:nvPr/>
        </p:nvSpPr>
        <p:spPr>
          <a:xfrm>
            <a:off x="1447800" y="48069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2" name="Shape 49"/>
          <p:cNvSpPr/>
          <p:nvPr/>
        </p:nvSpPr>
        <p:spPr>
          <a:xfrm>
            <a:off x="1568704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3" name="Shape 50"/>
          <p:cNvSpPr/>
          <p:nvPr/>
        </p:nvSpPr>
        <p:spPr>
          <a:xfrm>
            <a:off x="1732280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4" name="Shape 51"/>
          <p:cNvSpPr/>
          <p:nvPr/>
        </p:nvSpPr>
        <p:spPr>
          <a:xfrm>
            <a:off x="1895856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5" name="Shape 52"/>
          <p:cNvSpPr/>
          <p:nvPr/>
        </p:nvSpPr>
        <p:spPr>
          <a:xfrm>
            <a:off x="1650492" y="51198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6" name="Shape 53"/>
          <p:cNvSpPr/>
          <p:nvPr/>
        </p:nvSpPr>
        <p:spPr>
          <a:xfrm>
            <a:off x="1814068" y="51198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7" name="Shape 54"/>
          <p:cNvSpPr/>
          <p:nvPr/>
        </p:nvSpPr>
        <p:spPr>
          <a:xfrm>
            <a:off x="1568704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8" name="Shape 55"/>
          <p:cNvSpPr/>
          <p:nvPr/>
        </p:nvSpPr>
        <p:spPr>
          <a:xfrm>
            <a:off x="1732280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9" name="Shape 56"/>
          <p:cNvSpPr/>
          <p:nvPr/>
        </p:nvSpPr>
        <p:spPr>
          <a:xfrm>
            <a:off x="1895856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2336800" y="45339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過去の経験・思い込みの壁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「どうせわかってもらえない」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「この人は〇〇な人であるはず」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6223000" y="44704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/>
        </p:spPr>
      </p:sp>
      <p:sp>
        <p:nvSpPr>
          <p:cNvPr id="62" name="Shape 59"/>
          <p:cNvSpPr/>
          <p:nvPr/>
        </p:nvSpPr>
        <p:spPr>
          <a:xfrm>
            <a:off x="6400800" y="48069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3" name="Shape 60"/>
          <p:cNvSpPr/>
          <p:nvPr/>
        </p:nvSpPr>
        <p:spPr>
          <a:xfrm>
            <a:off x="6521704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4" name="Shape 61"/>
          <p:cNvSpPr/>
          <p:nvPr/>
        </p:nvSpPr>
        <p:spPr>
          <a:xfrm>
            <a:off x="6685280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5" name="Shape 62"/>
          <p:cNvSpPr/>
          <p:nvPr/>
        </p:nvSpPr>
        <p:spPr>
          <a:xfrm>
            <a:off x="6848856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6" name="Shape 63"/>
          <p:cNvSpPr/>
          <p:nvPr/>
        </p:nvSpPr>
        <p:spPr>
          <a:xfrm>
            <a:off x="6603492" y="51198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7" name="Shape 64"/>
          <p:cNvSpPr/>
          <p:nvPr/>
        </p:nvSpPr>
        <p:spPr>
          <a:xfrm>
            <a:off x="6767068" y="51198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8" name="Shape 65"/>
          <p:cNvSpPr/>
          <p:nvPr/>
        </p:nvSpPr>
        <p:spPr>
          <a:xfrm>
            <a:off x="6521704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9" name="Shape 66"/>
          <p:cNvSpPr/>
          <p:nvPr/>
        </p:nvSpPr>
        <p:spPr>
          <a:xfrm>
            <a:off x="6685280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70" name="Shape 67"/>
          <p:cNvSpPr/>
          <p:nvPr/>
        </p:nvSpPr>
        <p:spPr>
          <a:xfrm>
            <a:off x="6848856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7289800" y="45339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価値観・文化の壁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「今の若者は・・・」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「沖縄の人って・・・」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pic>
        <p:nvPicPr>
          <p:cNvPr id="4" name="Image 1" descr="/home/user/yumi/slides/part1/assets/script-chapter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05" y="2095500"/>
            <a:ext cx="3221789" cy="76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16000" y="3048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頑張るほど、距離ができてしまう</a:t>
            </a:r>
            <a:endParaRPr lang="en-US" sz="3000" dirty="0"/>
          </a:p>
        </p:txBody>
      </p:sp>
      <p:pic>
        <p:nvPicPr>
          <p:cNvPr id="6" name="Image 2" descr="/home/user/yumi/slides/part1/assets/deco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873500"/>
            <a:ext cx="2857500" cy="2857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92200" y="109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3"/>
          <p:cNvSpPr/>
          <p:nvPr/>
        </p:nvSpPr>
        <p:spPr>
          <a:xfrm>
            <a:off x="1333500" y="1282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4"/>
          <p:cNvSpPr/>
          <p:nvPr/>
        </p:nvSpPr>
        <p:spPr>
          <a:xfrm>
            <a:off x="1047750" y="13906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5"/>
          <p:cNvSpPr/>
          <p:nvPr/>
        </p:nvSpPr>
        <p:spPr>
          <a:xfrm>
            <a:off x="10998200" y="5537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6"/>
          <p:cNvSpPr/>
          <p:nvPr/>
        </p:nvSpPr>
        <p:spPr>
          <a:xfrm>
            <a:off x="10807700" y="5727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2" name="Shape 7"/>
          <p:cNvSpPr/>
          <p:nvPr/>
        </p:nvSpPr>
        <p:spPr>
          <a:xfrm>
            <a:off x="11156950" y="53530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改善しようと・・・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270000" y="1841500"/>
            <a:ext cx="2794000" cy="3556000"/>
          </a:xfrm>
          <a:prstGeom prst="roundRect">
            <a:avLst>
              <a:gd name="adj" fmla="val 6364"/>
            </a:avLst>
          </a:prstGeom>
          <a:solidFill>
            <a:srgbClr val="E3F7F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24000" y="20701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2800" b="1" dirty="0">
                <a:solidFill>
                  <a:srgbClr val="4F9CCC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01.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1524000" y="2667000"/>
            <a:ext cx="2286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ja-JP" altLang="en-US" sz="18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説明する</a:t>
            </a:r>
            <a:endParaRPr lang="en-US" sz="1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ja-JP" altLang="en-US" sz="18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説得する</a:t>
            </a:r>
            <a:endParaRPr lang="en-US" sz="1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ja-JP" altLang="en-US" sz="18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話し方を変える</a:t>
            </a:r>
            <a:endParaRPr lang="en-US" sz="1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ja-JP" altLang="en-US" sz="18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事前に準備をする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203700" y="3467100"/>
            <a:ext cx="355600" cy="304800"/>
          </a:xfrm>
          <a:prstGeom prst="rightArrow">
            <a:avLst/>
          </a:prstGeom>
          <a:solidFill>
            <a:srgbClr val="F5DE81"/>
          </a:solidFill>
          <a:ln/>
        </p:spPr>
      </p:sp>
      <p:sp>
        <p:nvSpPr>
          <p:cNvPr id="10" name="Shape 7"/>
          <p:cNvSpPr/>
          <p:nvPr/>
        </p:nvSpPr>
        <p:spPr>
          <a:xfrm>
            <a:off x="4699000" y="1841500"/>
            <a:ext cx="2794000" cy="3556000"/>
          </a:xfrm>
          <a:prstGeom prst="roundRect">
            <a:avLst>
              <a:gd name="adj" fmla="val 6364"/>
            </a:avLst>
          </a:prstGeom>
          <a:solidFill>
            <a:srgbClr val="E3F7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953000" y="20701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2800" b="1" dirty="0">
                <a:solidFill>
                  <a:srgbClr val="4F9CCC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02.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953000" y="2667000"/>
            <a:ext cx="2286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ja-JP" altLang="en-US" sz="18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諦める</a:t>
            </a:r>
            <a:endParaRPr lang="en-US" sz="1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ja-JP" altLang="en-US" sz="18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憤る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632700" y="3467100"/>
            <a:ext cx="355600" cy="304800"/>
          </a:xfrm>
          <a:prstGeom prst="rightArrow">
            <a:avLst/>
          </a:prstGeom>
          <a:solidFill>
            <a:srgbClr val="F5DE81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8000" y="1841500"/>
            <a:ext cx="2794000" cy="3556000"/>
          </a:xfrm>
          <a:prstGeom prst="roundRect">
            <a:avLst>
              <a:gd name="adj" fmla="val 6364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82000" y="20701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2800" b="1" dirty="0">
                <a:solidFill>
                  <a:srgbClr val="4F9CCC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03.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8382000" y="2667000"/>
            <a:ext cx="2286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ja-JP" altLang="en-US" sz="18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余計に距離ができる</a:t>
            </a:r>
            <a:endParaRPr lang="en-US" sz="1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ja-JP" altLang="en-US" sz="18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噛み合わなくなる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pic>
        <p:nvPicPr>
          <p:cNvPr id="4" name="Image 1" descr="/home/user/yumi/slides/part1/assets/script-chapter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868" y="2095500"/>
            <a:ext cx="3148263" cy="76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16000" y="3048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「はなさない」トークで得られること</a:t>
            </a:r>
            <a:endParaRPr lang="en-US" sz="3000" dirty="0"/>
          </a:p>
        </p:txBody>
      </p:sp>
      <p:pic>
        <p:nvPicPr>
          <p:cNvPr id="6" name="Image 2" descr="/home/user/yumi/slides/part1/assets/deco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873500"/>
            <a:ext cx="2857500" cy="2857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92200" y="109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3"/>
          <p:cNvSpPr/>
          <p:nvPr/>
        </p:nvSpPr>
        <p:spPr>
          <a:xfrm>
            <a:off x="1333500" y="1282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4"/>
          <p:cNvSpPr/>
          <p:nvPr/>
        </p:nvSpPr>
        <p:spPr>
          <a:xfrm>
            <a:off x="1047750" y="13906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5"/>
          <p:cNvSpPr/>
          <p:nvPr/>
        </p:nvSpPr>
        <p:spPr>
          <a:xfrm>
            <a:off x="10998200" y="5537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6"/>
          <p:cNvSpPr/>
          <p:nvPr/>
        </p:nvSpPr>
        <p:spPr>
          <a:xfrm>
            <a:off x="10807700" y="5727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2" name="Shape 7"/>
          <p:cNvSpPr/>
          <p:nvPr/>
        </p:nvSpPr>
        <p:spPr>
          <a:xfrm>
            <a:off x="11156950" y="53530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“はなさない”トークで得られること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270000" y="14986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/>
        </p:spPr>
      </p:sp>
      <p:sp>
        <p:nvSpPr>
          <p:cNvPr id="7" name="Shape 4"/>
          <p:cNvSpPr/>
          <p:nvPr/>
        </p:nvSpPr>
        <p:spPr>
          <a:xfrm>
            <a:off x="1447800" y="18351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568704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9" name="Shape 6"/>
          <p:cNvSpPr/>
          <p:nvPr/>
        </p:nvSpPr>
        <p:spPr>
          <a:xfrm>
            <a:off x="1732280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0" name="Shape 7"/>
          <p:cNvSpPr/>
          <p:nvPr/>
        </p:nvSpPr>
        <p:spPr>
          <a:xfrm>
            <a:off x="1895856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1" name="Shape 8"/>
          <p:cNvSpPr/>
          <p:nvPr/>
        </p:nvSpPr>
        <p:spPr>
          <a:xfrm>
            <a:off x="1650492" y="21480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2" name="Shape 9"/>
          <p:cNvSpPr/>
          <p:nvPr/>
        </p:nvSpPr>
        <p:spPr>
          <a:xfrm>
            <a:off x="1814068" y="21480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3" name="Shape 10"/>
          <p:cNvSpPr/>
          <p:nvPr/>
        </p:nvSpPr>
        <p:spPr>
          <a:xfrm>
            <a:off x="1568704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4" name="Shape 11"/>
          <p:cNvSpPr/>
          <p:nvPr/>
        </p:nvSpPr>
        <p:spPr>
          <a:xfrm>
            <a:off x="1732280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5" name="Shape 12"/>
          <p:cNvSpPr/>
          <p:nvPr/>
        </p:nvSpPr>
        <p:spPr>
          <a:xfrm>
            <a:off x="1895856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336800" y="15621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好感・親しみの壁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「なんとなく好きじゃない」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「苦手なタイプかも・・・」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223000" y="14986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/>
        </p:spPr>
      </p:sp>
      <p:sp>
        <p:nvSpPr>
          <p:cNvPr id="18" name="Shape 15"/>
          <p:cNvSpPr/>
          <p:nvPr/>
        </p:nvSpPr>
        <p:spPr>
          <a:xfrm>
            <a:off x="6400800" y="18351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521704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0" name="Shape 17"/>
          <p:cNvSpPr/>
          <p:nvPr/>
        </p:nvSpPr>
        <p:spPr>
          <a:xfrm>
            <a:off x="6685280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1" name="Shape 18"/>
          <p:cNvSpPr/>
          <p:nvPr/>
        </p:nvSpPr>
        <p:spPr>
          <a:xfrm>
            <a:off x="6848856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2" name="Shape 19"/>
          <p:cNvSpPr/>
          <p:nvPr/>
        </p:nvSpPr>
        <p:spPr>
          <a:xfrm>
            <a:off x="6603492" y="21480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3" name="Shape 20"/>
          <p:cNvSpPr/>
          <p:nvPr/>
        </p:nvSpPr>
        <p:spPr>
          <a:xfrm>
            <a:off x="6767068" y="21480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4" name="Shape 21"/>
          <p:cNvSpPr/>
          <p:nvPr/>
        </p:nvSpPr>
        <p:spPr>
          <a:xfrm>
            <a:off x="6521704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5" name="Shape 22"/>
          <p:cNvSpPr/>
          <p:nvPr/>
        </p:nvSpPr>
        <p:spPr>
          <a:xfrm>
            <a:off x="6685280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6" name="Shape 23"/>
          <p:cNvSpPr/>
          <p:nvPr/>
        </p:nvSpPr>
        <p:spPr>
          <a:xfrm>
            <a:off x="6848856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289800" y="15621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安心・信頼の壁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「この人に話して大丈夫かな」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「何考えているかわからないな」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270000" y="29845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/>
        </p:spPr>
      </p:sp>
      <p:sp>
        <p:nvSpPr>
          <p:cNvPr id="29" name="Shape 26"/>
          <p:cNvSpPr/>
          <p:nvPr/>
        </p:nvSpPr>
        <p:spPr>
          <a:xfrm>
            <a:off x="1447800" y="33210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1568704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1" name="Shape 28"/>
          <p:cNvSpPr/>
          <p:nvPr/>
        </p:nvSpPr>
        <p:spPr>
          <a:xfrm>
            <a:off x="1732280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2" name="Shape 29"/>
          <p:cNvSpPr/>
          <p:nvPr/>
        </p:nvSpPr>
        <p:spPr>
          <a:xfrm>
            <a:off x="1895856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3" name="Shape 30"/>
          <p:cNvSpPr/>
          <p:nvPr/>
        </p:nvSpPr>
        <p:spPr>
          <a:xfrm>
            <a:off x="1650492" y="36339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4" name="Shape 31"/>
          <p:cNvSpPr/>
          <p:nvPr/>
        </p:nvSpPr>
        <p:spPr>
          <a:xfrm>
            <a:off x="1814068" y="36339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5" name="Shape 32"/>
          <p:cNvSpPr/>
          <p:nvPr/>
        </p:nvSpPr>
        <p:spPr>
          <a:xfrm>
            <a:off x="1568704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6" name="Shape 33"/>
          <p:cNvSpPr/>
          <p:nvPr/>
        </p:nvSpPr>
        <p:spPr>
          <a:xfrm>
            <a:off x="1732280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7" name="Shape 34"/>
          <p:cNvSpPr/>
          <p:nvPr/>
        </p:nvSpPr>
        <p:spPr>
          <a:xfrm>
            <a:off x="1895856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2336800" y="30480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タイミング・余裕の壁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「今は話したくない」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「それどころじゃない」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6223000" y="29845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/>
        </p:spPr>
      </p:sp>
      <p:sp>
        <p:nvSpPr>
          <p:cNvPr id="40" name="Shape 37"/>
          <p:cNvSpPr/>
          <p:nvPr/>
        </p:nvSpPr>
        <p:spPr>
          <a:xfrm>
            <a:off x="6400800" y="33210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6521704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2" name="Shape 39"/>
          <p:cNvSpPr/>
          <p:nvPr/>
        </p:nvSpPr>
        <p:spPr>
          <a:xfrm>
            <a:off x="6685280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3" name="Shape 40"/>
          <p:cNvSpPr/>
          <p:nvPr/>
        </p:nvSpPr>
        <p:spPr>
          <a:xfrm>
            <a:off x="6848856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4" name="Shape 41"/>
          <p:cNvSpPr/>
          <p:nvPr/>
        </p:nvSpPr>
        <p:spPr>
          <a:xfrm>
            <a:off x="6603492" y="36339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5" name="Shape 42"/>
          <p:cNvSpPr/>
          <p:nvPr/>
        </p:nvSpPr>
        <p:spPr>
          <a:xfrm>
            <a:off x="6767068" y="36339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6" name="Shape 43"/>
          <p:cNvSpPr/>
          <p:nvPr/>
        </p:nvSpPr>
        <p:spPr>
          <a:xfrm>
            <a:off x="6521704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7" name="Shape 44"/>
          <p:cNvSpPr/>
          <p:nvPr/>
        </p:nvSpPr>
        <p:spPr>
          <a:xfrm>
            <a:off x="6685280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8" name="Shape 45"/>
          <p:cNvSpPr/>
          <p:nvPr/>
        </p:nvSpPr>
        <p:spPr>
          <a:xfrm>
            <a:off x="6848856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7289800" y="30480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納得・共感の壁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「言っていることはわかる。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けどなんか違う」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「なんだか押し付けてくるなぁ」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1270000" y="44704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/>
        </p:spPr>
      </p:sp>
      <p:sp>
        <p:nvSpPr>
          <p:cNvPr id="51" name="Shape 48"/>
          <p:cNvSpPr/>
          <p:nvPr/>
        </p:nvSpPr>
        <p:spPr>
          <a:xfrm>
            <a:off x="1447800" y="48069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2" name="Shape 49"/>
          <p:cNvSpPr/>
          <p:nvPr/>
        </p:nvSpPr>
        <p:spPr>
          <a:xfrm>
            <a:off x="1568704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3" name="Shape 50"/>
          <p:cNvSpPr/>
          <p:nvPr/>
        </p:nvSpPr>
        <p:spPr>
          <a:xfrm>
            <a:off x="1732280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4" name="Shape 51"/>
          <p:cNvSpPr/>
          <p:nvPr/>
        </p:nvSpPr>
        <p:spPr>
          <a:xfrm>
            <a:off x="1895856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5" name="Shape 52"/>
          <p:cNvSpPr/>
          <p:nvPr/>
        </p:nvSpPr>
        <p:spPr>
          <a:xfrm>
            <a:off x="1650492" y="51198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6" name="Shape 53"/>
          <p:cNvSpPr/>
          <p:nvPr/>
        </p:nvSpPr>
        <p:spPr>
          <a:xfrm>
            <a:off x="1814068" y="51198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7" name="Shape 54"/>
          <p:cNvSpPr/>
          <p:nvPr/>
        </p:nvSpPr>
        <p:spPr>
          <a:xfrm>
            <a:off x="1568704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8" name="Shape 55"/>
          <p:cNvSpPr/>
          <p:nvPr/>
        </p:nvSpPr>
        <p:spPr>
          <a:xfrm>
            <a:off x="1732280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9" name="Shape 56"/>
          <p:cNvSpPr/>
          <p:nvPr/>
        </p:nvSpPr>
        <p:spPr>
          <a:xfrm>
            <a:off x="1895856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2336800" y="45339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過去の経験・思い込みの壁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「どうせわかってもらえない」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「この人は〇〇な人であるはず」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6223000" y="44704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/>
        </p:spPr>
      </p:sp>
      <p:sp>
        <p:nvSpPr>
          <p:cNvPr id="62" name="Shape 59"/>
          <p:cNvSpPr/>
          <p:nvPr/>
        </p:nvSpPr>
        <p:spPr>
          <a:xfrm>
            <a:off x="6400800" y="48069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3" name="Shape 60"/>
          <p:cNvSpPr/>
          <p:nvPr/>
        </p:nvSpPr>
        <p:spPr>
          <a:xfrm>
            <a:off x="6521704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4" name="Shape 61"/>
          <p:cNvSpPr/>
          <p:nvPr/>
        </p:nvSpPr>
        <p:spPr>
          <a:xfrm>
            <a:off x="6685280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5" name="Shape 62"/>
          <p:cNvSpPr/>
          <p:nvPr/>
        </p:nvSpPr>
        <p:spPr>
          <a:xfrm>
            <a:off x="6848856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6" name="Shape 63"/>
          <p:cNvSpPr/>
          <p:nvPr/>
        </p:nvSpPr>
        <p:spPr>
          <a:xfrm>
            <a:off x="6603492" y="51198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7" name="Shape 64"/>
          <p:cNvSpPr/>
          <p:nvPr/>
        </p:nvSpPr>
        <p:spPr>
          <a:xfrm>
            <a:off x="6767068" y="51198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8" name="Shape 65"/>
          <p:cNvSpPr/>
          <p:nvPr/>
        </p:nvSpPr>
        <p:spPr>
          <a:xfrm>
            <a:off x="6521704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9" name="Shape 66"/>
          <p:cNvSpPr/>
          <p:nvPr/>
        </p:nvSpPr>
        <p:spPr>
          <a:xfrm>
            <a:off x="6685280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70" name="Shape 67"/>
          <p:cNvSpPr/>
          <p:nvPr/>
        </p:nvSpPr>
        <p:spPr>
          <a:xfrm>
            <a:off x="6848856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7289800" y="45339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価値観・文化の壁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「今の若者は・・・」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「沖縄の人って・・・」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“はなさない”トークで得られること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270000" y="14986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 w="28575">
            <a:solidFill>
              <a:srgbClr val="8B5FB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7800" y="18351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568704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9" name="Shape 6"/>
          <p:cNvSpPr/>
          <p:nvPr/>
        </p:nvSpPr>
        <p:spPr>
          <a:xfrm>
            <a:off x="1732280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0" name="Shape 7"/>
          <p:cNvSpPr/>
          <p:nvPr/>
        </p:nvSpPr>
        <p:spPr>
          <a:xfrm>
            <a:off x="1895856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1" name="Shape 8"/>
          <p:cNvSpPr/>
          <p:nvPr/>
        </p:nvSpPr>
        <p:spPr>
          <a:xfrm>
            <a:off x="1650492" y="21480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2" name="Shape 9"/>
          <p:cNvSpPr/>
          <p:nvPr/>
        </p:nvSpPr>
        <p:spPr>
          <a:xfrm>
            <a:off x="1814068" y="21480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3" name="Shape 10"/>
          <p:cNvSpPr/>
          <p:nvPr/>
        </p:nvSpPr>
        <p:spPr>
          <a:xfrm>
            <a:off x="1568704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4" name="Shape 11"/>
          <p:cNvSpPr/>
          <p:nvPr/>
        </p:nvSpPr>
        <p:spPr>
          <a:xfrm>
            <a:off x="1732280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5" name="Shape 12"/>
          <p:cNvSpPr/>
          <p:nvPr/>
        </p:nvSpPr>
        <p:spPr>
          <a:xfrm>
            <a:off x="1895856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336800" y="15621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好感・親しみを得られる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223000" y="14986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 w="28575">
            <a:solidFill>
              <a:srgbClr val="8B5FB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18351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521704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0" name="Shape 17"/>
          <p:cNvSpPr/>
          <p:nvPr/>
        </p:nvSpPr>
        <p:spPr>
          <a:xfrm>
            <a:off x="6685280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1" name="Shape 18"/>
          <p:cNvSpPr/>
          <p:nvPr/>
        </p:nvSpPr>
        <p:spPr>
          <a:xfrm>
            <a:off x="6848856" y="20413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2" name="Shape 19"/>
          <p:cNvSpPr/>
          <p:nvPr/>
        </p:nvSpPr>
        <p:spPr>
          <a:xfrm>
            <a:off x="6603492" y="21480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3" name="Shape 20"/>
          <p:cNvSpPr/>
          <p:nvPr/>
        </p:nvSpPr>
        <p:spPr>
          <a:xfrm>
            <a:off x="6767068" y="21480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4" name="Shape 21"/>
          <p:cNvSpPr/>
          <p:nvPr/>
        </p:nvSpPr>
        <p:spPr>
          <a:xfrm>
            <a:off x="6521704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5" name="Shape 22"/>
          <p:cNvSpPr/>
          <p:nvPr/>
        </p:nvSpPr>
        <p:spPr>
          <a:xfrm>
            <a:off x="6685280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6" name="Shape 23"/>
          <p:cNvSpPr/>
          <p:nvPr/>
        </p:nvSpPr>
        <p:spPr>
          <a:xfrm>
            <a:off x="6848856" y="22547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289800" y="15621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安心・信頼を得られる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270000" y="29845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/>
        </p:spPr>
      </p:sp>
      <p:sp>
        <p:nvSpPr>
          <p:cNvPr id="29" name="Shape 26"/>
          <p:cNvSpPr/>
          <p:nvPr/>
        </p:nvSpPr>
        <p:spPr>
          <a:xfrm>
            <a:off x="1447800" y="33210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1568704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1" name="Shape 28"/>
          <p:cNvSpPr/>
          <p:nvPr/>
        </p:nvSpPr>
        <p:spPr>
          <a:xfrm>
            <a:off x="1732280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2" name="Shape 29"/>
          <p:cNvSpPr/>
          <p:nvPr/>
        </p:nvSpPr>
        <p:spPr>
          <a:xfrm>
            <a:off x="1895856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3" name="Shape 30"/>
          <p:cNvSpPr/>
          <p:nvPr/>
        </p:nvSpPr>
        <p:spPr>
          <a:xfrm>
            <a:off x="1650492" y="36339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4" name="Shape 31"/>
          <p:cNvSpPr/>
          <p:nvPr/>
        </p:nvSpPr>
        <p:spPr>
          <a:xfrm>
            <a:off x="1814068" y="36339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5" name="Shape 32"/>
          <p:cNvSpPr/>
          <p:nvPr/>
        </p:nvSpPr>
        <p:spPr>
          <a:xfrm>
            <a:off x="1568704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6" name="Shape 33"/>
          <p:cNvSpPr/>
          <p:nvPr/>
        </p:nvSpPr>
        <p:spPr>
          <a:xfrm>
            <a:off x="1732280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7" name="Shape 34"/>
          <p:cNvSpPr/>
          <p:nvPr/>
        </p:nvSpPr>
        <p:spPr>
          <a:xfrm>
            <a:off x="1895856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2336800" y="30480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タイミング・余裕の壁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「今は話したくない」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5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「それどころじゃない」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6223000" y="29845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 w="28575">
            <a:solidFill>
              <a:srgbClr val="8B5FB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00800" y="33210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6521704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2" name="Shape 39"/>
          <p:cNvSpPr/>
          <p:nvPr/>
        </p:nvSpPr>
        <p:spPr>
          <a:xfrm>
            <a:off x="6685280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3" name="Shape 40"/>
          <p:cNvSpPr/>
          <p:nvPr/>
        </p:nvSpPr>
        <p:spPr>
          <a:xfrm>
            <a:off x="6848856" y="35272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4" name="Shape 41"/>
          <p:cNvSpPr/>
          <p:nvPr/>
        </p:nvSpPr>
        <p:spPr>
          <a:xfrm>
            <a:off x="6603492" y="36339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5" name="Shape 42"/>
          <p:cNvSpPr/>
          <p:nvPr/>
        </p:nvSpPr>
        <p:spPr>
          <a:xfrm>
            <a:off x="6767068" y="36339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6" name="Shape 43"/>
          <p:cNvSpPr/>
          <p:nvPr/>
        </p:nvSpPr>
        <p:spPr>
          <a:xfrm>
            <a:off x="6521704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7" name="Shape 44"/>
          <p:cNvSpPr/>
          <p:nvPr/>
        </p:nvSpPr>
        <p:spPr>
          <a:xfrm>
            <a:off x="6685280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8" name="Shape 45"/>
          <p:cNvSpPr/>
          <p:nvPr/>
        </p:nvSpPr>
        <p:spPr>
          <a:xfrm>
            <a:off x="6848856" y="37406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7289800" y="30480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納得・共感される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1270000" y="44704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 w="28575">
            <a:solidFill>
              <a:srgbClr val="8B5FB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447800" y="48069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2" name="Shape 49"/>
          <p:cNvSpPr/>
          <p:nvPr/>
        </p:nvSpPr>
        <p:spPr>
          <a:xfrm>
            <a:off x="1568704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3" name="Shape 50"/>
          <p:cNvSpPr/>
          <p:nvPr/>
        </p:nvSpPr>
        <p:spPr>
          <a:xfrm>
            <a:off x="1732280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4" name="Shape 51"/>
          <p:cNvSpPr/>
          <p:nvPr/>
        </p:nvSpPr>
        <p:spPr>
          <a:xfrm>
            <a:off x="1895856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5" name="Shape 52"/>
          <p:cNvSpPr/>
          <p:nvPr/>
        </p:nvSpPr>
        <p:spPr>
          <a:xfrm>
            <a:off x="1650492" y="51198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6" name="Shape 53"/>
          <p:cNvSpPr/>
          <p:nvPr/>
        </p:nvSpPr>
        <p:spPr>
          <a:xfrm>
            <a:off x="1814068" y="51198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7" name="Shape 54"/>
          <p:cNvSpPr/>
          <p:nvPr/>
        </p:nvSpPr>
        <p:spPr>
          <a:xfrm>
            <a:off x="1568704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8" name="Shape 55"/>
          <p:cNvSpPr/>
          <p:nvPr/>
        </p:nvSpPr>
        <p:spPr>
          <a:xfrm>
            <a:off x="1732280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59" name="Shape 56"/>
          <p:cNvSpPr/>
          <p:nvPr/>
        </p:nvSpPr>
        <p:spPr>
          <a:xfrm>
            <a:off x="1895856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2336800" y="45339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過去の経験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思い込みの壁を</a:t>
            </a:r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越える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6223000" y="4470400"/>
            <a:ext cx="4699000" cy="1384300"/>
          </a:xfrm>
          <a:prstGeom prst="roundRect">
            <a:avLst>
              <a:gd name="adj" fmla="val 12844"/>
            </a:avLst>
          </a:prstGeom>
          <a:solidFill>
            <a:srgbClr val="E3F7FD"/>
          </a:solidFill>
          <a:ln w="28575">
            <a:solidFill>
              <a:srgbClr val="8B5FB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400800" y="4806950"/>
            <a:ext cx="711200" cy="711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3" name="Shape 60"/>
          <p:cNvSpPr/>
          <p:nvPr/>
        </p:nvSpPr>
        <p:spPr>
          <a:xfrm>
            <a:off x="6521704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4" name="Shape 61"/>
          <p:cNvSpPr/>
          <p:nvPr/>
        </p:nvSpPr>
        <p:spPr>
          <a:xfrm>
            <a:off x="6685280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5" name="Shape 62"/>
          <p:cNvSpPr/>
          <p:nvPr/>
        </p:nvSpPr>
        <p:spPr>
          <a:xfrm>
            <a:off x="6848856" y="501319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6" name="Shape 63"/>
          <p:cNvSpPr/>
          <p:nvPr/>
        </p:nvSpPr>
        <p:spPr>
          <a:xfrm>
            <a:off x="6603492" y="51198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7" name="Shape 64"/>
          <p:cNvSpPr/>
          <p:nvPr/>
        </p:nvSpPr>
        <p:spPr>
          <a:xfrm>
            <a:off x="6767068" y="511987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8" name="Shape 65"/>
          <p:cNvSpPr/>
          <p:nvPr/>
        </p:nvSpPr>
        <p:spPr>
          <a:xfrm>
            <a:off x="6521704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69" name="Shape 66"/>
          <p:cNvSpPr/>
          <p:nvPr/>
        </p:nvSpPr>
        <p:spPr>
          <a:xfrm>
            <a:off x="6685280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70" name="Shape 67"/>
          <p:cNvSpPr/>
          <p:nvPr/>
        </p:nvSpPr>
        <p:spPr>
          <a:xfrm>
            <a:off x="6848856" y="5226558"/>
            <a:ext cx="142240" cy="85344"/>
          </a:xfrm>
          <a:prstGeom prst="roundRect">
            <a:avLst>
              <a:gd name="adj" fmla="val 22321"/>
            </a:avLst>
          </a:prstGeom>
          <a:solidFill>
            <a:srgbClr val="B3A6EE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7289800" y="4533900"/>
            <a:ext cx="3492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価値観・文化の壁を</a:t>
            </a:r>
            <a:endParaRPr lang="en-US" sz="18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ja-JP" altLang="en-US" sz="18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越える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pic>
        <p:nvPicPr>
          <p:cNvPr id="4" name="Image 1" descr="/home/user/yumi/slides/part1/assets/script-chapter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803" y="2095500"/>
            <a:ext cx="3198395" cy="76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16000" y="3048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大切なのは、話す内容より土壌づくり</a:t>
            </a:r>
            <a:endParaRPr lang="en-US" sz="3000" dirty="0"/>
          </a:p>
        </p:txBody>
      </p:sp>
      <p:pic>
        <p:nvPicPr>
          <p:cNvPr id="6" name="Image 2" descr="/home/user/yumi/slides/part1/assets/deco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873500"/>
            <a:ext cx="2857500" cy="2857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92200" y="109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3"/>
          <p:cNvSpPr/>
          <p:nvPr/>
        </p:nvSpPr>
        <p:spPr>
          <a:xfrm>
            <a:off x="1333500" y="1282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4"/>
          <p:cNvSpPr/>
          <p:nvPr/>
        </p:nvSpPr>
        <p:spPr>
          <a:xfrm>
            <a:off x="1047750" y="13906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5"/>
          <p:cNvSpPr/>
          <p:nvPr/>
        </p:nvSpPr>
        <p:spPr>
          <a:xfrm>
            <a:off x="10998200" y="5537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6"/>
          <p:cNvSpPr/>
          <p:nvPr/>
        </p:nvSpPr>
        <p:spPr>
          <a:xfrm>
            <a:off x="10807700" y="5727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2" name="Shape 7"/>
          <p:cNvSpPr/>
          <p:nvPr/>
        </p:nvSpPr>
        <p:spPr>
          <a:xfrm>
            <a:off x="11156950" y="53530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大切なのは、話す内容より【土壌づくり】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270000" y="1524000"/>
            <a:ext cx="9652000" cy="558800"/>
          </a:xfrm>
          <a:prstGeom prst="roundRect">
            <a:avLst>
              <a:gd name="adj" fmla="val 27273"/>
            </a:avLst>
          </a:prstGeom>
          <a:solidFill>
            <a:srgbClr val="E3F7FD"/>
          </a:solidFill>
          <a:ln/>
        </p:spPr>
      </p:sp>
      <p:sp>
        <p:nvSpPr>
          <p:cNvPr id="7" name="Shape 4"/>
          <p:cNvSpPr/>
          <p:nvPr/>
        </p:nvSpPr>
        <p:spPr>
          <a:xfrm>
            <a:off x="1422400" y="16256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549400" y="17526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968500" y="1524000"/>
            <a:ext cx="876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どんなに言葉を磨いても、土壌が整っていなければ花は咲かない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270000" y="2184400"/>
            <a:ext cx="9652000" cy="558800"/>
          </a:xfrm>
          <a:prstGeom prst="roundRect">
            <a:avLst>
              <a:gd name="adj" fmla="val 27273"/>
            </a:avLst>
          </a:prstGeom>
          <a:solidFill>
            <a:srgbClr val="E3F7FD"/>
          </a:solidFill>
          <a:ln/>
        </p:spPr>
      </p:sp>
      <p:sp>
        <p:nvSpPr>
          <p:cNvPr id="11" name="Shape 8"/>
          <p:cNvSpPr/>
          <p:nvPr/>
        </p:nvSpPr>
        <p:spPr>
          <a:xfrm>
            <a:off x="1422400" y="22860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1549400" y="24130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968500" y="2184400"/>
            <a:ext cx="876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「うまく話せない」のは、頑張る方向が少しズレていただけ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0000" y="2844800"/>
            <a:ext cx="9652000" cy="558800"/>
          </a:xfrm>
          <a:prstGeom prst="roundRect">
            <a:avLst>
              <a:gd name="adj" fmla="val 27273"/>
            </a:avLst>
          </a:prstGeom>
          <a:solidFill>
            <a:srgbClr val="E3F7FD"/>
          </a:solidFill>
          <a:ln/>
        </p:spPr>
      </p:sp>
      <p:sp>
        <p:nvSpPr>
          <p:cNvPr id="15" name="Shape 12"/>
          <p:cNvSpPr/>
          <p:nvPr/>
        </p:nvSpPr>
        <p:spPr>
          <a:xfrm>
            <a:off x="1422400" y="29464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1549400" y="30734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968500" y="2844800"/>
            <a:ext cx="876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相手の心に「この人と話したい」という土壌ができてはじめて、言葉は届く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270000" y="3505200"/>
            <a:ext cx="9652000" cy="558800"/>
          </a:xfrm>
          <a:prstGeom prst="roundRect">
            <a:avLst>
              <a:gd name="adj" fmla="val 27273"/>
            </a:avLst>
          </a:prstGeom>
          <a:solidFill>
            <a:srgbClr val="E3F7FD"/>
          </a:solidFill>
          <a:ln/>
        </p:spPr>
      </p:sp>
      <p:sp>
        <p:nvSpPr>
          <p:cNvPr id="19" name="Shape 16"/>
          <p:cNvSpPr/>
          <p:nvPr/>
        </p:nvSpPr>
        <p:spPr>
          <a:xfrm>
            <a:off x="1422400" y="36068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1549400" y="37338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968500" y="3505200"/>
            <a:ext cx="876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今日お伝えするのは、拍子抜けするほど簡単なテクニック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270000" y="4165600"/>
            <a:ext cx="9652000" cy="558800"/>
          </a:xfrm>
          <a:prstGeom prst="roundRect">
            <a:avLst>
              <a:gd name="adj" fmla="val 27273"/>
            </a:avLst>
          </a:prstGeom>
          <a:solidFill>
            <a:srgbClr val="E3F7FD"/>
          </a:solidFill>
          <a:ln/>
        </p:spPr>
      </p:sp>
      <p:sp>
        <p:nvSpPr>
          <p:cNvPr id="23" name="Shape 20"/>
          <p:cNvSpPr/>
          <p:nvPr/>
        </p:nvSpPr>
        <p:spPr>
          <a:xfrm>
            <a:off x="1422400" y="42672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1549400" y="4394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968500" y="4165600"/>
            <a:ext cx="876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シンプルで、だからこそ誰とでも、今日からすぐ使えること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270000" y="4953000"/>
            <a:ext cx="9652000" cy="609600"/>
          </a:xfrm>
          <a:prstGeom prst="roundRect">
            <a:avLst>
              <a:gd name="adj" fmla="val 20833"/>
            </a:avLst>
          </a:prstGeom>
          <a:solidFill>
            <a:srgbClr val="FFFBEA"/>
          </a:solidFill>
          <a:ln w="19050">
            <a:solidFill>
              <a:srgbClr val="F5DE81"/>
            </a:solidFill>
            <a:prstDash val="sysDot"/>
          </a:ln>
        </p:spPr>
      </p:sp>
      <p:sp>
        <p:nvSpPr>
          <p:cNvPr id="27" name="Text 24"/>
          <p:cNvSpPr txBox="1"/>
          <p:nvPr/>
        </p:nvSpPr>
        <p:spPr>
          <a:xfrm>
            <a:off x="1422400" y="4953000"/>
            <a:ext cx="934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なんだ、これだけで</a:t>
            </a:r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良かったんだ〜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pic>
        <p:nvPicPr>
          <p:cNvPr id="4" name="Image 1" descr="/home/user/yumi/slides/part1/assets/script-chapter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868" y="2095500"/>
            <a:ext cx="3148263" cy="76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16000" y="3048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心を掴む鍵は、無意識に好感度をためること</a:t>
            </a:r>
            <a:endParaRPr lang="en-US" sz="3000" dirty="0"/>
          </a:p>
        </p:txBody>
      </p:sp>
      <p:pic>
        <p:nvPicPr>
          <p:cNvPr id="6" name="Image 2" descr="/home/user/yumi/slides/part1/assets/deco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873500"/>
            <a:ext cx="2857500" cy="2857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92200" y="109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3"/>
          <p:cNvSpPr/>
          <p:nvPr/>
        </p:nvSpPr>
        <p:spPr>
          <a:xfrm>
            <a:off x="1333500" y="1282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4"/>
          <p:cNvSpPr/>
          <p:nvPr/>
        </p:nvSpPr>
        <p:spPr>
          <a:xfrm>
            <a:off x="1047750" y="13906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5"/>
          <p:cNvSpPr/>
          <p:nvPr/>
        </p:nvSpPr>
        <p:spPr>
          <a:xfrm>
            <a:off x="10998200" y="5537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6"/>
          <p:cNvSpPr/>
          <p:nvPr/>
        </p:nvSpPr>
        <p:spPr>
          <a:xfrm>
            <a:off x="10807700" y="5727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2" name="Shape 7"/>
          <p:cNvSpPr/>
          <p:nvPr/>
        </p:nvSpPr>
        <p:spPr>
          <a:xfrm>
            <a:off x="11156950" y="53530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4000" y="1016000"/>
            <a:ext cx="9144000" cy="4826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524000" y="166370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理由は説明できないのに、なんとなく好きな人</a:t>
            </a:r>
            <a:endParaRPr lang="en-US" sz="2000" dirty="0"/>
          </a:p>
        </p:txBody>
      </p:sp>
      <p:pic>
        <p:nvPicPr>
          <p:cNvPr id="5" name="Image 1" descr="/home/user/yumi/slides/part1/assets/deco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2159000"/>
            <a:ext cx="2857500" cy="2857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905000" y="26670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「なんとなく好き」と</a:t>
            </a:r>
            <a:endParaRPr lang="en-US" sz="4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思った経験は</a:t>
            </a:r>
            <a:endParaRPr lang="en-US" sz="4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ありませんか？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1860550" y="1416050"/>
            <a:ext cx="88900" cy="889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4"/>
          <p:cNvSpPr/>
          <p:nvPr/>
        </p:nvSpPr>
        <p:spPr>
          <a:xfrm>
            <a:off x="2070100" y="16383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5"/>
          <p:cNvSpPr/>
          <p:nvPr/>
        </p:nvSpPr>
        <p:spPr>
          <a:xfrm>
            <a:off x="10236200" y="53467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6"/>
          <p:cNvSpPr/>
          <p:nvPr/>
        </p:nvSpPr>
        <p:spPr>
          <a:xfrm>
            <a:off x="10071100" y="55245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7"/>
          <p:cNvSpPr/>
          <p:nvPr/>
        </p:nvSpPr>
        <p:spPr>
          <a:xfrm>
            <a:off x="10445750" y="51879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コミュニケーションの鍵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Text 3"/>
          <p:cNvSpPr txBox="1"/>
          <p:nvPr/>
        </p:nvSpPr>
        <p:spPr>
          <a:xfrm>
            <a:off x="1270000" y="1905000"/>
            <a:ext cx="965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52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無意識に</a:t>
            </a:r>
            <a:pPr algn="ctr" indent="0" marL="0">
              <a:lnSpc>
                <a:spcPct val="100000"/>
              </a:lnSpc>
              <a:buNone/>
            </a:pPr>
            <a:r>
              <a:rPr lang="ja-JP" altLang="en-US" sz="52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like</a:t>
            </a:r>
            <a:pPr algn="ctr" indent="0" marL="0">
              <a:lnSpc>
                <a:spcPct val="100000"/>
              </a:lnSpc>
              <a:buNone/>
            </a:pPr>
            <a:r>
              <a:rPr lang="ja-JP" altLang="en-US" sz="52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をためる</a:t>
            </a:r>
            <a:endParaRPr lang="en-US" sz="5200" dirty="0"/>
          </a:p>
        </p:txBody>
      </p:sp>
      <p:pic>
        <p:nvPicPr>
          <p:cNvPr id="7" name="Image 1" descr="/home/user/yumi/slides/part1/assets/deco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3683000"/>
            <a:ext cx="2857500" cy="2857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270000" y="4318000"/>
            <a:ext cx="9652000" cy="1079500"/>
          </a:xfrm>
          <a:prstGeom prst="roundRect">
            <a:avLst>
              <a:gd name="adj" fmla="val 11765"/>
            </a:avLst>
          </a:prstGeom>
          <a:solidFill>
            <a:srgbClr val="FFFBEA"/>
          </a:solidFill>
          <a:ln w="19050">
            <a:solidFill>
              <a:srgbClr val="F5DE81"/>
            </a:solidFill>
            <a:prstDash val="sysDot"/>
          </a:ln>
        </p:spPr>
      </p:sp>
      <p:sp>
        <p:nvSpPr>
          <p:cNvPr id="9" name="Text 5"/>
          <p:cNvSpPr txBox="1"/>
          <p:nvPr/>
        </p:nvSpPr>
        <p:spPr>
          <a:xfrm>
            <a:off x="1422400" y="4318000"/>
            <a:ext cx="93472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「なんとなく好き」「分かってくれる」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と自然に思われることを</a:t>
            </a:r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目指す！！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無意識にアプローチする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460500" y="2667000"/>
            <a:ext cx="4064000" cy="3175000"/>
          </a:xfrm>
          <a:prstGeom prst="roundRect">
            <a:avLst>
              <a:gd name="adj" fmla="val 5600"/>
            </a:avLst>
          </a:prstGeom>
          <a:solidFill>
            <a:srgbClr val="E3F7FD"/>
          </a:solidFill>
          <a:ln/>
        </p:spPr>
      </p:sp>
      <p:sp>
        <p:nvSpPr>
          <p:cNvPr id="7" name="Shape 4"/>
          <p:cNvSpPr/>
          <p:nvPr/>
        </p:nvSpPr>
        <p:spPr>
          <a:xfrm>
            <a:off x="1460500" y="2667000"/>
            <a:ext cx="4064000" cy="254000"/>
          </a:xfrm>
          <a:prstGeom prst="rect">
            <a:avLst/>
          </a:prstGeom>
          <a:solidFill>
            <a:srgbClr val="E3F7FD"/>
          </a:solidFill>
          <a:ln/>
        </p:spPr>
      </p:sp>
      <p:sp>
        <p:nvSpPr>
          <p:cNvPr id="8" name="Shape 5"/>
          <p:cNvSpPr/>
          <p:nvPr/>
        </p:nvSpPr>
        <p:spPr>
          <a:xfrm>
            <a:off x="1333500" y="2667000"/>
            <a:ext cx="4318000" cy="0"/>
          </a:xfrm>
          <a:prstGeom prst="line">
            <a:avLst/>
          </a:prstGeom>
          <a:noFill/>
          <a:ln w="38100">
            <a:solidFill>
              <a:srgbClr val="8EC3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94000" y="1778000"/>
            <a:ext cx="1397000" cy="889000"/>
          </a:xfrm>
          <a:prstGeom prst="triangle">
            <a:avLst/>
          </a:prstGeom>
          <a:solidFill>
            <a:srgbClr val="FFFFFF"/>
          </a:solidFill>
          <a:ln w="31750">
            <a:solidFill>
              <a:srgbClr val="8EC3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10800000">
            <a:off x="1905000" y="2667000"/>
            <a:ext cx="3175000" cy="2857500"/>
          </a:xfrm>
          <a:prstGeom prst="triangle">
            <a:avLst/>
          </a:prstGeom>
          <a:solidFill>
            <a:srgbClr val="FFFFFF"/>
          </a:solidFill>
          <a:ln w="31750">
            <a:solidFill>
              <a:srgbClr val="8EC3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96000" y="1651000"/>
            <a:ext cx="482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1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Conscious Mind</a:t>
            </a:r>
            <a:endParaRPr lang="en-US" sz="1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ja-JP" altLang="en-US" sz="1600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（顕在意識）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096000" y="2984500"/>
            <a:ext cx="482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ja-JP" altLang="en-US" sz="24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Unconscious Mind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（潜在意識）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096000" y="4572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BEA"/>
          </a:solidFill>
          <a:ln w="19050">
            <a:solidFill>
              <a:srgbClr val="F5DE81"/>
            </a:solidFill>
            <a:prstDash val="sysDot"/>
          </a:ln>
        </p:spPr>
      </p:sp>
      <p:sp>
        <p:nvSpPr>
          <p:cNvPr id="14" name="Text 11"/>
          <p:cNvSpPr txBox="1"/>
          <p:nvPr/>
        </p:nvSpPr>
        <p:spPr>
          <a:xfrm>
            <a:off x="6248400" y="4572000"/>
            <a:ext cx="452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無意識に対してアプローチする方が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速い＋強力！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15000" y="2095500"/>
            <a:ext cx="292100" cy="0"/>
          </a:xfrm>
          <a:prstGeom prst="line">
            <a:avLst/>
          </a:prstGeom>
          <a:noFill/>
          <a:ln w="38100">
            <a:solidFill>
              <a:srgbClr val="F5DE8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15000" y="3556000"/>
            <a:ext cx="292100" cy="0"/>
          </a:xfrm>
          <a:prstGeom prst="line">
            <a:avLst/>
          </a:prstGeom>
          <a:noFill/>
          <a:ln w="38100">
            <a:solidFill>
              <a:srgbClr val="F5DE81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pic>
        <p:nvPicPr>
          <p:cNvPr id="4" name="Image 1" descr="/home/user/yumi/slides/part1/assets/script-chapter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224" y="2095500"/>
            <a:ext cx="3131553" cy="76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16000" y="3048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「はなさないトーク」の3つの道具</a:t>
            </a:r>
            <a:endParaRPr lang="en-US" sz="3000" dirty="0"/>
          </a:p>
        </p:txBody>
      </p:sp>
      <p:pic>
        <p:nvPicPr>
          <p:cNvPr id="6" name="Image 2" descr="/home/user/yumi/slides/part1/assets/deco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873500"/>
            <a:ext cx="2857500" cy="2857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92200" y="109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3"/>
          <p:cNvSpPr/>
          <p:nvPr/>
        </p:nvSpPr>
        <p:spPr>
          <a:xfrm>
            <a:off x="1333500" y="1282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4"/>
          <p:cNvSpPr/>
          <p:nvPr/>
        </p:nvSpPr>
        <p:spPr>
          <a:xfrm>
            <a:off x="1047750" y="13906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5"/>
          <p:cNvSpPr/>
          <p:nvPr/>
        </p:nvSpPr>
        <p:spPr>
          <a:xfrm>
            <a:off x="10998200" y="5537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6"/>
          <p:cNvSpPr/>
          <p:nvPr/>
        </p:nvSpPr>
        <p:spPr>
          <a:xfrm>
            <a:off x="10807700" y="5727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2" name="Shape 7"/>
          <p:cNvSpPr/>
          <p:nvPr/>
        </p:nvSpPr>
        <p:spPr>
          <a:xfrm>
            <a:off x="11156950" y="53530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はなさないトークとは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79500" y="1651000"/>
            <a:ext cx="3175000" cy="2794000"/>
          </a:xfrm>
          <a:prstGeom prst="roundRect">
            <a:avLst>
              <a:gd name="adj" fmla="val 6364"/>
            </a:avLst>
          </a:prstGeom>
          <a:solidFill>
            <a:srgbClr val="E3F7FD"/>
          </a:solidFill>
          <a:ln/>
        </p:spPr>
      </p:sp>
      <p:sp>
        <p:nvSpPr>
          <p:cNvPr id="7" name="Shape 4"/>
          <p:cNvSpPr/>
          <p:nvPr/>
        </p:nvSpPr>
        <p:spPr>
          <a:xfrm>
            <a:off x="2032000" y="18796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032000" y="18796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31900" y="2349500"/>
            <a:ext cx="28702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ja-JP" altLang="en-US" sz="24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うなずき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508500" y="1651000"/>
            <a:ext cx="3175000" cy="2794000"/>
          </a:xfrm>
          <a:prstGeom prst="roundRect">
            <a:avLst>
              <a:gd name="adj" fmla="val 6364"/>
            </a:avLst>
          </a:prstGeom>
          <a:solidFill>
            <a:srgbClr val="E3F7FD"/>
          </a:solidFill>
          <a:ln/>
        </p:spPr>
      </p:sp>
      <p:sp>
        <p:nvSpPr>
          <p:cNvPr id="11" name="Shape 8"/>
          <p:cNvSpPr/>
          <p:nvPr/>
        </p:nvSpPr>
        <p:spPr>
          <a:xfrm>
            <a:off x="5461000" y="18796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61000" y="18796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660900" y="2349500"/>
            <a:ext cx="28702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ja-JP" altLang="en-US" sz="24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相槌</a:t>
            </a:r>
            <a:endParaRPr lang="en-US" sz="2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ja-JP" altLang="en-US" sz="24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（アイヅチ）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37500" y="1651000"/>
            <a:ext cx="3175000" cy="2794000"/>
          </a:xfrm>
          <a:prstGeom prst="roundRect">
            <a:avLst>
              <a:gd name="adj" fmla="val 6364"/>
            </a:avLst>
          </a:prstGeom>
          <a:solidFill>
            <a:srgbClr val="E3F7FD"/>
          </a:solidFill>
          <a:ln/>
        </p:spPr>
      </p:sp>
      <p:sp>
        <p:nvSpPr>
          <p:cNvPr id="15" name="Shape 12"/>
          <p:cNvSpPr/>
          <p:nvPr/>
        </p:nvSpPr>
        <p:spPr>
          <a:xfrm>
            <a:off x="8890000" y="18796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890000" y="18796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89900" y="2349500"/>
            <a:ext cx="28702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ja-JP" altLang="en-US" sz="24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受容ワード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はなさないトークとは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79500" y="1651000"/>
            <a:ext cx="3175000" cy="2794000"/>
          </a:xfrm>
          <a:prstGeom prst="roundRect">
            <a:avLst>
              <a:gd name="adj" fmla="val 6364"/>
            </a:avLst>
          </a:prstGeom>
          <a:solidFill>
            <a:srgbClr val="E3F7FD"/>
          </a:solidFill>
          <a:ln/>
        </p:spPr>
      </p:sp>
      <p:sp>
        <p:nvSpPr>
          <p:cNvPr id="7" name="Shape 4"/>
          <p:cNvSpPr/>
          <p:nvPr/>
        </p:nvSpPr>
        <p:spPr>
          <a:xfrm>
            <a:off x="2032000" y="18796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032000" y="18796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31900" y="2349500"/>
            <a:ext cx="28702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ja-JP" altLang="en-US" sz="24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うなずき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508500" y="1651000"/>
            <a:ext cx="3175000" cy="2794000"/>
          </a:xfrm>
          <a:prstGeom prst="roundRect">
            <a:avLst>
              <a:gd name="adj" fmla="val 6364"/>
            </a:avLst>
          </a:prstGeom>
          <a:solidFill>
            <a:srgbClr val="E3F7FD"/>
          </a:solidFill>
          <a:ln/>
        </p:spPr>
      </p:sp>
      <p:sp>
        <p:nvSpPr>
          <p:cNvPr id="11" name="Shape 8"/>
          <p:cNvSpPr/>
          <p:nvPr/>
        </p:nvSpPr>
        <p:spPr>
          <a:xfrm>
            <a:off x="5461000" y="18796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61000" y="18796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660900" y="2349500"/>
            <a:ext cx="28702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ja-JP" altLang="en-US" sz="24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相槌</a:t>
            </a:r>
            <a:endParaRPr lang="en-US" sz="2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ja-JP" altLang="en-US" sz="24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（アイヅチ）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937500" y="1651000"/>
            <a:ext cx="3175000" cy="2794000"/>
          </a:xfrm>
          <a:prstGeom prst="roundRect">
            <a:avLst>
              <a:gd name="adj" fmla="val 6364"/>
            </a:avLst>
          </a:prstGeom>
          <a:solidFill>
            <a:srgbClr val="E3F7FD"/>
          </a:solidFill>
          <a:ln/>
        </p:spPr>
      </p:sp>
      <p:sp>
        <p:nvSpPr>
          <p:cNvPr id="15" name="Shape 12"/>
          <p:cNvSpPr/>
          <p:nvPr/>
        </p:nvSpPr>
        <p:spPr>
          <a:xfrm>
            <a:off x="8890000" y="18796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890000" y="18796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89900" y="2349500"/>
            <a:ext cx="28702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ja-JP" altLang="en-US" sz="24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受容ワード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1270000" y="4699000"/>
            <a:ext cx="9652000" cy="952500"/>
          </a:xfrm>
          <a:prstGeom prst="roundRect">
            <a:avLst>
              <a:gd name="adj" fmla="val 13333"/>
            </a:avLst>
          </a:prstGeom>
          <a:solidFill>
            <a:srgbClr val="FFFBEA"/>
          </a:solidFill>
          <a:ln w="19050">
            <a:solidFill>
              <a:srgbClr val="F5DE81"/>
            </a:solidFill>
            <a:prstDash val="sysDot"/>
          </a:ln>
        </p:spPr>
      </p:sp>
      <p:sp>
        <p:nvSpPr>
          <p:cNvPr id="19" name="Text 16"/>
          <p:cNvSpPr txBox="1"/>
          <p:nvPr/>
        </p:nvSpPr>
        <p:spPr>
          <a:xfrm>
            <a:off x="1422400" y="4699000"/>
            <a:ext cx="9347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聞かれるまでは説明しない！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（講座やセミナーは例外）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pic>
        <p:nvPicPr>
          <p:cNvPr id="4" name="Image 1" descr="/home/user/yumi/slides/part1/assets/script-chapter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408" y="2095500"/>
            <a:ext cx="2991184" cy="76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16000" y="3048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今日から使える3ステップ</a:t>
            </a:r>
            <a:endParaRPr lang="en-US" sz="3000" dirty="0"/>
          </a:p>
        </p:txBody>
      </p:sp>
      <p:pic>
        <p:nvPicPr>
          <p:cNvPr id="6" name="Image 2" descr="/home/user/yumi/slides/part1/assets/deco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873500"/>
            <a:ext cx="2857500" cy="2857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92200" y="109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3"/>
          <p:cNvSpPr/>
          <p:nvPr/>
        </p:nvSpPr>
        <p:spPr>
          <a:xfrm>
            <a:off x="1333500" y="1282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4"/>
          <p:cNvSpPr/>
          <p:nvPr/>
        </p:nvSpPr>
        <p:spPr>
          <a:xfrm>
            <a:off x="1047750" y="13906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5"/>
          <p:cNvSpPr/>
          <p:nvPr/>
        </p:nvSpPr>
        <p:spPr>
          <a:xfrm>
            <a:off x="10998200" y="5537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6"/>
          <p:cNvSpPr/>
          <p:nvPr/>
        </p:nvSpPr>
        <p:spPr>
          <a:xfrm>
            <a:off x="10807700" y="5727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2" name="Shape 7"/>
          <p:cNvSpPr/>
          <p:nvPr/>
        </p:nvSpPr>
        <p:spPr>
          <a:xfrm>
            <a:off x="11156950" y="53530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はなさないトークを日常に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460500" y="1511300"/>
            <a:ext cx="2921000" cy="2921000"/>
          </a:xfrm>
          <a:prstGeom prst="ellipse">
            <a:avLst/>
          </a:prstGeom>
          <a:solidFill>
            <a:srgbClr val="E3F7FD"/>
          </a:solidFill>
          <a:ln w="38100">
            <a:solidFill>
              <a:srgbClr val="8EC3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60500" y="2971800"/>
            <a:ext cx="2921000" cy="2933700"/>
          </a:xfrm>
          <a:prstGeom prst="rect">
            <a:avLst/>
          </a:prstGeom>
          <a:solidFill>
            <a:srgbClr val="E3F7FD"/>
          </a:solidFill>
          <a:ln w="38100">
            <a:solidFill>
              <a:srgbClr val="8EC3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79550" y="2933700"/>
            <a:ext cx="2882900" cy="88900"/>
          </a:xfrm>
          <a:prstGeom prst="rect">
            <a:avLst/>
          </a:prstGeom>
          <a:solidFill>
            <a:srgbClr val="E3F7FD"/>
          </a:solidFill>
          <a:ln/>
        </p:spPr>
      </p:sp>
      <p:pic>
        <p:nvPicPr>
          <p:cNvPr id="9" name="Image 1" descr="/home/user/yumi/slides/part1/assets/script-ste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89" y="2286000"/>
            <a:ext cx="1552222" cy="6985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0500" y="33020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24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うなずき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4953000" y="1905000"/>
            <a:ext cx="5969000" cy="1016000"/>
          </a:xfrm>
          <a:prstGeom prst="roundRect">
            <a:avLst>
              <a:gd name="adj" fmla="val 15000"/>
            </a:avLst>
          </a:prstGeom>
          <a:solidFill>
            <a:srgbClr val="E3F7FD"/>
          </a:solidFill>
          <a:ln/>
        </p:spPr>
      </p:sp>
      <p:sp>
        <p:nvSpPr>
          <p:cNvPr id="12" name="Shape 8"/>
          <p:cNvSpPr/>
          <p:nvPr/>
        </p:nvSpPr>
        <p:spPr>
          <a:xfrm>
            <a:off x="5105400" y="22352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5232400" y="236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651500" y="1905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無意識下に</a:t>
            </a:r>
            <a:endParaRPr lang="en-US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承認がたまる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4953000" y="3175000"/>
            <a:ext cx="5969000" cy="1460500"/>
          </a:xfrm>
          <a:prstGeom prst="roundRect">
            <a:avLst>
              <a:gd name="adj" fmla="val 10435"/>
            </a:avLst>
          </a:prstGeom>
          <a:solidFill>
            <a:srgbClr val="E3F7FD"/>
          </a:solidFill>
          <a:ln/>
        </p:spPr>
      </p:sp>
      <p:sp>
        <p:nvSpPr>
          <p:cNvPr id="16" name="Shape 12"/>
          <p:cNvSpPr/>
          <p:nvPr/>
        </p:nvSpPr>
        <p:spPr>
          <a:xfrm>
            <a:off x="5105400" y="372745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5232400" y="385445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651500" y="3175000"/>
            <a:ext cx="5080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18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出来てない場合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18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「この人聞いてない」と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18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思われる可能性大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はなさないトークを日常に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460500" y="1511300"/>
            <a:ext cx="2921000" cy="2921000"/>
          </a:xfrm>
          <a:prstGeom prst="ellipse">
            <a:avLst/>
          </a:prstGeom>
          <a:solidFill>
            <a:srgbClr val="E3F7FD"/>
          </a:solidFill>
          <a:ln w="38100">
            <a:solidFill>
              <a:srgbClr val="EBA3D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60500" y="2971800"/>
            <a:ext cx="2921000" cy="2933700"/>
          </a:xfrm>
          <a:prstGeom prst="rect">
            <a:avLst/>
          </a:prstGeom>
          <a:solidFill>
            <a:srgbClr val="E3F7FD"/>
          </a:solidFill>
          <a:ln w="38100">
            <a:solidFill>
              <a:srgbClr val="EBA3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79550" y="2933700"/>
            <a:ext cx="2882900" cy="88900"/>
          </a:xfrm>
          <a:prstGeom prst="rect">
            <a:avLst/>
          </a:prstGeom>
          <a:solidFill>
            <a:srgbClr val="E3F7FD"/>
          </a:solidFill>
          <a:ln/>
        </p:spPr>
      </p:sp>
      <p:pic>
        <p:nvPicPr>
          <p:cNvPr id="9" name="Image 1" descr="/home/user/yumi/slides/part1/assets/script-ste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069" y="2286000"/>
            <a:ext cx="1719862" cy="6985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0500" y="33020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24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相槌</a:t>
            </a:r>
            <a:endParaRPr lang="en-US" sz="2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ja-JP" altLang="en-US" sz="24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（アイヅチ）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4953000" y="1905000"/>
            <a:ext cx="5969000" cy="1016000"/>
          </a:xfrm>
          <a:prstGeom prst="roundRect">
            <a:avLst>
              <a:gd name="adj" fmla="val 15000"/>
            </a:avLst>
          </a:prstGeom>
          <a:solidFill>
            <a:srgbClr val="E3F7FD"/>
          </a:solidFill>
          <a:ln/>
        </p:spPr>
      </p:sp>
      <p:sp>
        <p:nvSpPr>
          <p:cNvPr id="12" name="Shape 8"/>
          <p:cNvSpPr/>
          <p:nvPr/>
        </p:nvSpPr>
        <p:spPr>
          <a:xfrm>
            <a:off x="5105400" y="22352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5232400" y="236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651500" y="1905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あまり声を出さずに</a:t>
            </a:r>
            <a:endParaRPr lang="en-US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相手の間による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4953000" y="3175000"/>
            <a:ext cx="5969000" cy="1460500"/>
          </a:xfrm>
          <a:prstGeom prst="roundRect">
            <a:avLst>
              <a:gd name="adj" fmla="val 10435"/>
            </a:avLst>
          </a:prstGeom>
          <a:solidFill>
            <a:srgbClr val="E3F7FD"/>
          </a:solidFill>
          <a:ln/>
        </p:spPr>
      </p:sp>
      <p:sp>
        <p:nvSpPr>
          <p:cNvPr id="16" name="Shape 12"/>
          <p:cNvSpPr/>
          <p:nvPr/>
        </p:nvSpPr>
        <p:spPr>
          <a:xfrm>
            <a:off x="5105400" y="372745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5232400" y="385445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651500" y="3175000"/>
            <a:ext cx="5080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ハ行を意識！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はなさないトークを日常に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460500" y="1511300"/>
            <a:ext cx="2921000" cy="2921000"/>
          </a:xfrm>
          <a:prstGeom prst="ellipse">
            <a:avLst/>
          </a:prstGeom>
          <a:solidFill>
            <a:srgbClr val="E3F7FD"/>
          </a:solidFill>
          <a:ln w="38100">
            <a:solidFill>
              <a:srgbClr val="B3A6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60500" y="2971800"/>
            <a:ext cx="2921000" cy="2933700"/>
          </a:xfrm>
          <a:prstGeom prst="rect">
            <a:avLst/>
          </a:prstGeom>
          <a:solidFill>
            <a:srgbClr val="E3F7FD"/>
          </a:solidFill>
          <a:ln w="38100">
            <a:solidFill>
              <a:srgbClr val="B3A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79550" y="2933700"/>
            <a:ext cx="2882900" cy="88900"/>
          </a:xfrm>
          <a:prstGeom prst="rect">
            <a:avLst/>
          </a:prstGeom>
          <a:solidFill>
            <a:srgbClr val="E3F7FD"/>
          </a:solidFill>
          <a:ln/>
        </p:spPr>
      </p:sp>
      <p:pic>
        <p:nvPicPr>
          <p:cNvPr id="9" name="Image 1" descr="/home/user/yumi/slides/part1/assets/script-step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666" y="2286000"/>
            <a:ext cx="1654669" cy="6985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0500" y="3302000"/>
            <a:ext cx="292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24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受容ワード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4953000" y="1905000"/>
            <a:ext cx="5969000" cy="1016000"/>
          </a:xfrm>
          <a:prstGeom prst="roundRect">
            <a:avLst>
              <a:gd name="adj" fmla="val 15000"/>
            </a:avLst>
          </a:prstGeom>
          <a:solidFill>
            <a:srgbClr val="E3F7FD"/>
          </a:solidFill>
          <a:ln/>
        </p:spPr>
      </p:sp>
      <p:sp>
        <p:nvSpPr>
          <p:cNvPr id="12" name="Shape 8"/>
          <p:cNvSpPr/>
          <p:nvPr/>
        </p:nvSpPr>
        <p:spPr>
          <a:xfrm>
            <a:off x="5105400" y="22352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5232400" y="236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651500" y="1905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ja-JP" altLang="en-US" sz="20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そのまま受容する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4953000" y="3175000"/>
            <a:ext cx="5969000" cy="1460500"/>
          </a:xfrm>
          <a:prstGeom prst="roundRect">
            <a:avLst>
              <a:gd name="adj" fmla="val 10435"/>
            </a:avLst>
          </a:prstGeom>
          <a:solidFill>
            <a:srgbClr val="E3F7FD"/>
          </a:solidFill>
          <a:ln/>
        </p:spPr>
      </p:sp>
      <p:sp>
        <p:nvSpPr>
          <p:cNvPr id="16" name="Shape 12"/>
          <p:cNvSpPr/>
          <p:nvPr/>
        </p:nvSpPr>
        <p:spPr>
          <a:xfrm>
            <a:off x="5105400" y="372745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5232400" y="385445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651500" y="3175000"/>
            <a:ext cx="5080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ja-JP" altLang="en-US" sz="17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・そうですよね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ja-JP" altLang="en-US" sz="17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・分かります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ja-JP" altLang="en-US" sz="17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・ありますよね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ja-JP" altLang="en-US" sz="17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・そうなんだ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4000" y="1016000"/>
            <a:ext cx="9144000" cy="4826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524000" y="166370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はなさないトークを日常に</a:t>
            </a:r>
            <a:endParaRPr lang="en-US" sz="2000" dirty="0"/>
          </a:p>
        </p:txBody>
      </p:sp>
      <p:pic>
        <p:nvPicPr>
          <p:cNvPr id="5" name="Image 1" descr="/home/user/yumi/slides/part1/assets/deco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2159000"/>
            <a:ext cx="2857500" cy="2857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905000" y="26670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とにかく</a:t>
            </a:r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ジャッジしない</a:t>
            </a:r>
            <a:endParaRPr lang="en-US" sz="4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ことがカギ！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1860550" y="1416050"/>
            <a:ext cx="88900" cy="889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4"/>
          <p:cNvSpPr/>
          <p:nvPr/>
        </p:nvSpPr>
        <p:spPr>
          <a:xfrm>
            <a:off x="2070100" y="16383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5"/>
          <p:cNvSpPr/>
          <p:nvPr/>
        </p:nvSpPr>
        <p:spPr>
          <a:xfrm>
            <a:off x="10236200" y="53467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6"/>
          <p:cNvSpPr/>
          <p:nvPr/>
        </p:nvSpPr>
        <p:spPr>
          <a:xfrm>
            <a:off x="10071100" y="55245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7"/>
          <p:cNvSpPr/>
          <p:nvPr/>
        </p:nvSpPr>
        <p:spPr>
          <a:xfrm>
            <a:off x="10445750" y="51879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pic>
        <p:nvPicPr>
          <p:cNvPr id="4" name="Image 1" descr="/home/user/yumi/slides/part1/assets/script-chapter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263" y="2095500"/>
            <a:ext cx="2847474" cy="76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16000" y="3048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「聞いているつもり」の落とし穴</a:t>
            </a:r>
            <a:endParaRPr lang="en-US" sz="3000" dirty="0"/>
          </a:p>
        </p:txBody>
      </p:sp>
      <p:pic>
        <p:nvPicPr>
          <p:cNvPr id="6" name="Image 2" descr="/home/user/yumi/slides/part1/assets/deco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873500"/>
            <a:ext cx="2857500" cy="2857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92200" y="109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3"/>
          <p:cNvSpPr/>
          <p:nvPr/>
        </p:nvSpPr>
        <p:spPr>
          <a:xfrm>
            <a:off x="1333500" y="1282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4"/>
          <p:cNvSpPr/>
          <p:nvPr/>
        </p:nvSpPr>
        <p:spPr>
          <a:xfrm>
            <a:off x="1047750" y="13906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5"/>
          <p:cNvSpPr/>
          <p:nvPr/>
        </p:nvSpPr>
        <p:spPr>
          <a:xfrm>
            <a:off x="10998200" y="5537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6"/>
          <p:cNvSpPr/>
          <p:nvPr/>
        </p:nvSpPr>
        <p:spPr>
          <a:xfrm>
            <a:off x="10807700" y="5727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2" name="Shape 7"/>
          <p:cNvSpPr/>
          <p:nvPr/>
        </p:nvSpPr>
        <p:spPr>
          <a:xfrm>
            <a:off x="11156950" y="53530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4000" y="1016000"/>
            <a:ext cx="9144000" cy="4826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524000" y="166370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「簡単そう」に見えますよね？</a:t>
            </a:r>
            <a:endParaRPr lang="en-US" sz="2000" dirty="0"/>
          </a:p>
        </p:txBody>
      </p:sp>
      <p:pic>
        <p:nvPicPr>
          <p:cNvPr id="5" name="Image 1" descr="/home/user/yumi/slides/part1/assets/deco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2159000"/>
            <a:ext cx="2857500" cy="2857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905000" y="26670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「自分はできている」と</a:t>
            </a:r>
            <a:endParaRPr lang="en-US" sz="4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思った方は？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1860550" y="1416050"/>
            <a:ext cx="88900" cy="889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4"/>
          <p:cNvSpPr/>
          <p:nvPr/>
        </p:nvSpPr>
        <p:spPr>
          <a:xfrm>
            <a:off x="2070100" y="16383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5"/>
          <p:cNvSpPr/>
          <p:nvPr/>
        </p:nvSpPr>
        <p:spPr>
          <a:xfrm>
            <a:off x="10236200" y="53467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6"/>
          <p:cNvSpPr/>
          <p:nvPr/>
        </p:nvSpPr>
        <p:spPr>
          <a:xfrm>
            <a:off x="10071100" y="55245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7"/>
          <p:cNvSpPr/>
          <p:nvPr/>
        </p:nvSpPr>
        <p:spPr>
          <a:xfrm>
            <a:off x="10445750" y="51879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先週、師匠の還暦祝いに行ったんです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先週、師匠の還暦祝いに行ったんです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おぉ、楽しかったんですね。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先週、師匠の還暦祝いに行ったんです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おぉ、楽しかったんですね。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19" name="Shape 16"/>
          <p:cNvSpPr/>
          <p:nvPr/>
        </p:nvSpPr>
        <p:spPr>
          <a:xfrm>
            <a:off x="9271000" y="3041650"/>
            <a:ext cx="1066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271000" y="3041650"/>
            <a:ext cx="1066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はい笑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先週、師匠の還暦祝いに行ったんです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おぉ、楽しかったんですね。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19" name="Shape 16"/>
          <p:cNvSpPr/>
          <p:nvPr/>
        </p:nvSpPr>
        <p:spPr>
          <a:xfrm>
            <a:off x="9271000" y="3041650"/>
            <a:ext cx="1066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271000" y="3041650"/>
            <a:ext cx="1066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はい笑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70000" y="38290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270000" y="38290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 rot="16200000">
            <a:off x="1739900" y="39560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1854200" y="3765550"/>
            <a:ext cx="4114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854200" y="376555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どういうところが楽しかったんですか？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先週、師匠の還暦祝いに行ったんです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おぉ、楽しかったんですね。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19" name="Shape 16"/>
          <p:cNvSpPr/>
          <p:nvPr/>
        </p:nvSpPr>
        <p:spPr>
          <a:xfrm>
            <a:off x="9271000" y="3041650"/>
            <a:ext cx="1066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271000" y="3041650"/>
            <a:ext cx="1066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はい笑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70000" y="38290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270000" y="38290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 rot="16200000">
            <a:off x="1739900" y="39560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1854200" y="3765550"/>
            <a:ext cx="4114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854200" y="376555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どういうところが楽しかったんですか？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515600" y="45529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515600" y="45529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 rot="5400000">
            <a:off x="10299700" y="46799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29" name="Shape 26"/>
          <p:cNvSpPr/>
          <p:nvPr/>
        </p:nvSpPr>
        <p:spPr>
          <a:xfrm>
            <a:off x="4667250" y="4489450"/>
            <a:ext cx="567055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667250" y="4489450"/>
            <a:ext cx="5670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んー4、50人かな。人が集まって、懐かしい人にも会えて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先週、師匠の還暦祝いに行ったんです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おぉ、楽しかったんですね。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19" name="Shape 16"/>
          <p:cNvSpPr/>
          <p:nvPr/>
        </p:nvSpPr>
        <p:spPr>
          <a:xfrm>
            <a:off x="9271000" y="3041650"/>
            <a:ext cx="1066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271000" y="3041650"/>
            <a:ext cx="1066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はい笑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70000" y="38290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270000" y="38290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 rot="16200000">
            <a:off x="1739900" y="39560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1854200" y="3765550"/>
            <a:ext cx="4114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854200" y="376555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どういうところが楽しかったんですか？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515600" y="45529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515600" y="45529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 rot="5400000">
            <a:off x="10299700" y="46799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29" name="Shape 26"/>
          <p:cNvSpPr/>
          <p:nvPr/>
        </p:nvSpPr>
        <p:spPr>
          <a:xfrm>
            <a:off x="4667250" y="4489450"/>
            <a:ext cx="567055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667250" y="4489450"/>
            <a:ext cx="5670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んー4、50人かな。人が集まって、懐かしい人にも会えて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270000" y="52768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270000" y="52768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 rot="16200000">
            <a:off x="1739900" y="54038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34" name="Shape 31"/>
          <p:cNvSpPr/>
          <p:nvPr/>
        </p:nvSpPr>
        <p:spPr>
          <a:xfrm>
            <a:off x="1854200" y="5213350"/>
            <a:ext cx="47244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854200" y="5213350"/>
            <a:ext cx="472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そんなに人が集まったんですね。すごいですね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8255000" y="1593850"/>
            <a:ext cx="2082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55000" y="1593850"/>
            <a:ext cx="208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すごいですよね。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8255000" y="1593850"/>
            <a:ext cx="2082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55000" y="1593850"/>
            <a:ext cx="208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すごいですよね。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24892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248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なんの先生なんですか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8255000" y="1593850"/>
            <a:ext cx="2082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55000" y="1593850"/>
            <a:ext cx="208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すごいですよね。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24892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248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なんの先生なんですか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19" name="Shape 16"/>
          <p:cNvSpPr/>
          <p:nvPr/>
        </p:nvSpPr>
        <p:spPr>
          <a:xfrm>
            <a:off x="8458200" y="3041650"/>
            <a:ext cx="1879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58200" y="3041650"/>
            <a:ext cx="187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大学の教授で、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8255000" y="1593850"/>
            <a:ext cx="2082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55000" y="1593850"/>
            <a:ext cx="208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すごいですよね。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24892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248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なんの先生なんですか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19" name="Shape 16"/>
          <p:cNvSpPr/>
          <p:nvPr/>
        </p:nvSpPr>
        <p:spPr>
          <a:xfrm>
            <a:off x="8458200" y="3041650"/>
            <a:ext cx="1879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58200" y="3041650"/>
            <a:ext cx="187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大学の教授で、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70000" y="38290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270000" y="38290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 rot="16200000">
            <a:off x="1739900" y="39560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1854200" y="3765550"/>
            <a:ext cx="33020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854200" y="3765550"/>
            <a:ext cx="330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大学、何の専門の教授ですか？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8255000" y="1593850"/>
            <a:ext cx="2082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55000" y="1593850"/>
            <a:ext cx="208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すごいですよね。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24892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248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なんの先生なんですか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19" name="Shape 16"/>
          <p:cNvSpPr/>
          <p:nvPr/>
        </p:nvSpPr>
        <p:spPr>
          <a:xfrm>
            <a:off x="8458200" y="3041650"/>
            <a:ext cx="1879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58200" y="3041650"/>
            <a:ext cx="187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大学の教授で、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70000" y="38290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270000" y="38290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 rot="16200000">
            <a:off x="1739900" y="39560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1854200" y="3765550"/>
            <a:ext cx="33020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854200" y="3765550"/>
            <a:ext cx="330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大学、何の専門の教授ですか？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515600" y="45529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515600" y="45529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 rot="5400000">
            <a:off x="10299700" y="46799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29" name="Shape 26"/>
          <p:cNvSpPr/>
          <p:nvPr/>
        </p:nvSpPr>
        <p:spPr>
          <a:xfrm>
            <a:off x="7239000" y="44894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239000" y="44894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アジア社会学の先生ですね。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ある日の会話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8255000" y="1593850"/>
            <a:ext cx="2082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55000" y="1593850"/>
            <a:ext cx="208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すごいですよね。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24892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248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なんの先生なんですか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19" name="Shape 16"/>
          <p:cNvSpPr/>
          <p:nvPr/>
        </p:nvSpPr>
        <p:spPr>
          <a:xfrm>
            <a:off x="8458200" y="3041650"/>
            <a:ext cx="1879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58200" y="3041650"/>
            <a:ext cx="187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大学の教授で、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70000" y="38290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270000" y="38290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 rot="16200000">
            <a:off x="1739900" y="39560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24" name="Shape 21"/>
          <p:cNvSpPr/>
          <p:nvPr/>
        </p:nvSpPr>
        <p:spPr>
          <a:xfrm>
            <a:off x="1854200" y="3765550"/>
            <a:ext cx="33020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854200" y="3765550"/>
            <a:ext cx="330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大学、何の専門の教授ですか？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515600" y="45529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515600" y="45529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 rot="5400000">
            <a:off x="10299700" y="46799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29" name="Shape 26"/>
          <p:cNvSpPr/>
          <p:nvPr/>
        </p:nvSpPr>
        <p:spPr>
          <a:xfrm>
            <a:off x="7239000" y="44894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239000" y="44894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アジア社会学の先生ですね。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270000" y="52768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270000" y="52768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 rot="16200000">
            <a:off x="1739900" y="54038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34" name="Shape 31"/>
          <p:cNvSpPr/>
          <p:nvPr/>
        </p:nvSpPr>
        <p:spPr>
          <a:xfrm>
            <a:off x="1854200" y="5213350"/>
            <a:ext cx="28956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854200" y="5213350"/>
            <a:ext cx="2895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おぉ、私の大学の教授も…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4000" y="1016000"/>
            <a:ext cx="9144000" cy="4826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524000" y="166370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ある日の会話</a:t>
            </a:r>
            <a:endParaRPr lang="en-US" sz="2000" dirty="0"/>
          </a:p>
        </p:txBody>
      </p:sp>
      <p:pic>
        <p:nvPicPr>
          <p:cNvPr id="5" name="Image 1" descr="/home/user/yumi/slides/part1/assets/deco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2159000"/>
            <a:ext cx="2857500" cy="2857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905000" y="26670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どこが</a:t>
            </a:r>
            <a:endParaRPr lang="en-US" sz="4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ズレていたでしょう？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1860550" y="1416050"/>
            <a:ext cx="88900" cy="889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4"/>
          <p:cNvSpPr/>
          <p:nvPr/>
        </p:nvSpPr>
        <p:spPr>
          <a:xfrm>
            <a:off x="2070100" y="16383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5"/>
          <p:cNvSpPr/>
          <p:nvPr/>
        </p:nvSpPr>
        <p:spPr>
          <a:xfrm>
            <a:off x="10236200" y="53467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6"/>
          <p:cNvSpPr/>
          <p:nvPr/>
        </p:nvSpPr>
        <p:spPr>
          <a:xfrm>
            <a:off x="10071100" y="55245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7"/>
          <p:cNvSpPr/>
          <p:nvPr/>
        </p:nvSpPr>
        <p:spPr>
          <a:xfrm>
            <a:off x="10445750" y="51879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ズレの正体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270000" y="1473200"/>
            <a:ext cx="9652000" cy="660400"/>
          </a:xfrm>
          <a:prstGeom prst="roundRect">
            <a:avLst>
              <a:gd name="adj" fmla="val 23077"/>
            </a:avLst>
          </a:prstGeom>
          <a:solidFill>
            <a:srgbClr val="E3F7FD"/>
          </a:solidFill>
          <a:ln/>
        </p:spPr>
      </p:sp>
      <p:sp>
        <p:nvSpPr>
          <p:cNvPr id="7" name="Shape 4"/>
          <p:cNvSpPr/>
          <p:nvPr/>
        </p:nvSpPr>
        <p:spPr>
          <a:xfrm>
            <a:off x="1422400" y="16256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22400" y="16256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930400" y="1473200"/>
            <a:ext cx="381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「楽しかったんですね」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67400" y="1714500"/>
            <a:ext cx="279400" cy="177800"/>
          </a:xfrm>
          <a:prstGeom prst="rightArrow">
            <a:avLst/>
          </a:prstGeom>
          <a:solidFill>
            <a:srgbClr val="F5DE8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86500" y="1473200"/>
            <a:ext cx="4483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相手が言っていない気持ちを、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先に決めつけている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270000" y="2222500"/>
            <a:ext cx="9652000" cy="660400"/>
          </a:xfrm>
          <a:prstGeom prst="roundRect">
            <a:avLst>
              <a:gd name="adj" fmla="val 23077"/>
            </a:avLst>
          </a:prstGeom>
          <a:solidFill>
            <a:srgbClr val="E3F7FD"/>
          </a:solidFill>
          <a:ln/>
        </p:spPr>
      </p:sp>
      <p:sp>
        <p:nvSpPr>
          <p:cNvPr id="13" name="Shape 10"/>
          <p:cNvSpPr/>
          <p:nvPr/>
        </p:nvSpPr>
        <p:spPr>
          <a:xfrm>
            <a:off x="1422400" y="23749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422400" y="23749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930400" y="2222500"/>
            <a:ext cx="381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「どういうところが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楽しかったんですか？」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867400" y="2463800"/>
            <a:ext cx="279400" cy="177800"/>
          </a:xfrm>
          <a:prstGeom prst="rightArrow">
            <a:avLst/>
          </a:prstGeom>
          <a:solidFill>
            <a:srgbClr val="F5DE8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86500" y="2222500"/>
            <a:ext cx="4483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質問で、聞き手の知りたい方向へ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引っ張っている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270000" y="2971800"/>
            <a:ext cx="9652000" cy="660400"/>
          </a:xfrm>
          <a:prstGeom prst="roundRect">
            <a:avLst>
              <a:gd name="adj" fmla="val 23077"/>
            </a:avLst>
          </a:prstGeom>
          <a:solidFill>
            <a:srgbClr val="E3F7FD"/>
          </a:solidFill>
          <a:ln/>
        </p:spPr>
      </p:sp>
      <p:sp>
        <p:nvSpPr>
          <p:cNvPr id="19" name="Shape 16"/>
          <p:cNvSpPr/>
          <p:nvPr/>
        </p:nvSpPr>
        <p:spPr>
          <a:xfrm>
            <a:off x="1422400" y="31242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422400" y="31242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930400" y="2971800"/>
            <a:ext cx="381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「そんなに人が集まったんですね。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すごいですね」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867400" y="3213100"/>
            <a:ext cx="279400" cy="177800"/>
          </a:xfrm>
          <a:prstGeom prst="rightArrow">
            <a:avLst/>
          </a:prstGeom>
          <a:solidFill>
            <a:srgbClr val="F5DE8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86500" y="2971800"/>
            <a:ext cx="4483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文章に言い換え、評価が入っている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270000" y="3721100"/>
            <a:ext cx="9652000" cy="660400"/>
          </a:xfrm>
          <a:prstGeom prst="roundRect">
            <a:avLst>
              <a:gd name="adj" fmla="val 23077"/>
            </a:avLst>
          </a:prstGeom>
          <a:solidFill>
            <a:srgbClr val="E3F7FD"/>
          </a:solidFill>
          <a:ln/>
        </p:spPr>
      </p:sp>
      <p:sp>
        <p:nvSpPr>
          <p:cNvPr id="25" name="Shape 22"/>
          <p:cNvSpPr/>
          <p:nvPr/>
        </p:nvSpPr>
        <p:spPr>
          <a:xfrm>
            <a:off x="1422400" y="38735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422400" y="38735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930400" y="3721100"/>
            <a:ext cx="381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「なんの先生なんですか」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「何の専門ですか」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867400" y="3962400"/>
            <a:ext cx="279400" cy="177800"/>
          </a:xfrm>
          <a:prstGeom prst="rightArrow">
            <a:avLst/>
          </a:prstGeom>
          <a:solidFill>
            <a:srgbClr val="F5DE8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286500" y="3721100"/>
            <a:ext cx="4483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気持ちから情報へ。尋問のようになる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270000" y="4470400"/>
            <a:ext cx="9652000" cy="660400"/>
          </a:xfrm>
          <a:prstGeom prst="roundRect">
            <a:avLst>
              <a:gd name="adj" fmla="val 23077"/>
            </a:avLst>
          </a:prstGeom>
          <a:solidFill>
            <a:srgbClr val="E3F7FD"/>
          </a:solidFill>
          <a:ln/>
        </p:spPr>
      </p:sp>
      <p:sp>
        <p:nvSpPr>
          <p:cNvPr id="31" name="Shape 28"/>
          <p:cNvSpPr/>
          <p:nvPr/>
        </p:nvSpPr>
        <p:spPr>
          <a:xfrm>
            <a:off x="1422400" y="46228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422400" y="462280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930400" y="4470400"/>
            <a:ext cx="3810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「私の大学の教授も…」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867400" y="4711700"/>
            <a:ext cx="279400" cy="177800"/>
          </a:xfrm>
          <a:prstGeom prst="rightArrow">
            <a:avLst/>
          </a:prstGeom>
          <a:solidFill>
            <a:srgbClr val="F5DE81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286500" y="4470400"/>
            <a:ext cx="4483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聞き手の話にすり替わる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270000" y="5270500"/>
            <a:ext cx="9652000" cy="508000"/>
          </a:xfrm>
          <a:prstGeom prst="roundRect">
            <a:avLst>
              <a:gd name="adj" fmla="val 25000"/>
            </a:avLst>
          </a:prstGeom>
          <a:solidFill>
            <a:srgbClr val="FFFBEA"/>
          </a:solidFill>
          <a:ln w="19050">
            <a:solidFill>
              <a:srgbClr val="F5DE81"/>
            </a:solidFill>
            <a:prstDash val="sysDot"/>
          </a:ln>
        </p:spPr>
      </p:sp>
      <p:sp>
        <p:nvSpPr>
          <p:cNvPr id="37" name="Text 34"/>
          <p:cNvSpPr txBox="1"/>
          <p:nvPr/>
        </p:nvSpPr>
        <p:spPr>
          <a:xfrm>
            <a:off x="1422400" y="5270500"/>
            <a:ext cx="9347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結果：「懐かしい人にも会えて」が、</a:t>
            </a:r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拾われないまま終わる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4000" y="1016000"/>
            <a:ext cx="9144000" cy="4826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524000" y="166370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ズレの正体</a:t>
            </a:r>
            <a:endParaRPr lang="en-US" sz="2000" dirty="0"/>
          </a:p>
        </p:txBody>
      </p:sp>
      <p:pic>
        <p:nvPicPr>
          <p:cNvPr id="5" name="Image 1" descr="/home/user/yumi/slides/part1/assets/deco-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2159000"/>
            <a:ext cx="2857500" cy="2857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905000" y="26670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Aさんに</a:t>
            </a:r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悪気はない</a:t>
            </a:r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。</a:t>
            </a:r>
            <a:endParaRPr lang="en-US" sz="4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よくある聞き方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1860550" y="1416050"/>
            <a:ext cx="88900" cy="889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4"/>
          <p:cNvSpPr/>
          <p:nvPr/>
        </p:nvSpPr>
        <p:spPr>
          <a:xfrm>
            <a:off x="2070100" y="16383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5"/>
          <p:cNvSpPr/>
          <p:nvPr/>
        </p:nvSpPr>
        <p:spPr>
          <a:xfrm>
            <a:off x="10236200" y="53467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6"/>
          <p:cNvSpPr/>
          <p:nvPr/>
        </p:nvSpPr>
        <p:spPr>
          <a:xfrm>
            <a:off x="10071100" y="55245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7"/>
          <p:cNvSpPr/>
          <p:nvPr/>
        </p:nvSpPr>
        <p:spPr>
          <a:xfrm>
            <a:off x="10445750" y="51879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pic>
        <p:nvPicPr>
          <p:cNvPr id="4" name="Image 1" descr="/home/user/yumi/slides/part1/assets/script-chapter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026" y="2095500"/>
            <a:ext cx="3027947" cy="76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16000" y="3048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会話を広げる究極の技：KMB</a:t>
            </a:r>
            <a:endParaRPr lang="en-US" sz="3000" dirty="0"/>
          </a:p>
        </p:txBody>
      </p:sp>
      <p:pic>
        <p:nvPicPr>
          <p:cNvPr id="6" name="Image 2" descr="/home/user/yumi/slides/part1/assets/deco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873500"/>
            <a:ext cx="2857500" cy="2857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92200" y="109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3"/>
          <p:cNvSpPr/>
          <p:nvPr/>
        </p:nvSpPr>
        <p:spPr>
          <a:xfrm>
            <a:off x="1333500" y="1282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4"/>
          <p:cNvSpPr/>
          <p:nvPr/>
        </p:nvSpPr>
        <p:spPr>
          <a:xfrm>
            <a:off x="1047750" y="13906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5"/>
          <p:cNvSpPr/>
          <p:nvPr/>
        </p:nvSpPr>
        <p:spPr>
          <a:xfrm>
            <a:off x="10998200" y="5537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6"/>
          <p:cNvSpPr/>
          <p:nvPr/>
        </p:nvSpPr>
        <p:spPr>
          <a:xfrm>
            <a:off x="10807700" y="5727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2" name="Shape 7"/>
          <p:cNvSpPr/>
          <p:nvPr/>
        </p:nvSpPr>
        <p:spPr>
          <a:xfrm>
            <a:off x="11156950" y="53530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会話を広げる究極の技！！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Text 3"/>
          <p:cNvSpPr txBox="1"/>
          <p:nvPr/>
        </p:nvSpPr>
        <p:spPr>
          <a:xfrm>
            <a:off x="1270000" y="1498600"/>
            <a:ext cx="965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KMB</a:t>
            </a:r>
            <a:pPr algn="l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（極限まで短くバックトラッキング）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270000" y="2349500"/>
            <a:ext cx="2413000" cy="952500"/>
          </a:xfrm>
          <a:prstGeom prst="roundRect">
            <a:avLst>
              <a:gd name="adj" fmla="val 18667"/>
            </a:avLst>
          </a:prstGeom>
          <a:solidFill>
            <a:srgbClr val="E3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70000" y="2349500"/>
            <a:ext cx="241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2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単語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3683000" y="2349500"/>
            <a:ext cx="63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6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+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4318000" y="2349500"/>
            <a:ext cx="2413000" cy="952500"/>
          </a:xfrm>
          <a:prstGeom prst="roundRect">
            <a:avLst>
              <a:gd name="adj" fmla="val 18667"/>
            </a:avLst>
          </a:prstGeom>
          <a:solidFill>
            <a:srgbClr val="E3F7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318000" y="2349500"/>
            <a:ext cx="241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28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（助詞）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7239000" y="2349500"/>
            <a:ext cx="3683000" cy="9525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28575">
            <a:solidFill>
              <a:srgbClr val="8B5FB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39000" y="2349500"/>
            <a:ext cx="36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22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一文字も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ja-JP" altLang="en-US" sz="22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変えずに！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270000" y="3810000"/>
            <a:ext cx="2222500" cy="698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5DE8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70000" y="3810000"/>
            <a:ext cx="222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・鹿児島へ！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746500" y="3810000"/>
            <a:ext cx="2222500" cy="698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5DE8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746500" y="3810000"/>
            <a:ext cx="222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・映画に！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223000" y="3810000"/>
            <a:ext cx="2222500" cy="698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5DE8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23000" y="3810000"/>
            <a:ext cx="222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・喧嘩を！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8699500" y="3810000"/>
            <a:ext cx="2222500" cy="698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5DE8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99500" y="3810000"/>
            <a:ext cx="222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・鍋で！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1270000" y="4953000"/>
            <a:ext cx="9652000" cy="698500"/>
          </a:xfrm>
          <a:prstGeom prst="roundRect">
            <a:avLst>
              <a:gd name="adj" fmla="val 18182"/>
            </a:avLst>
          </a:prstGeom>
          <a:solidFill>
            <a:srgbClr val="FFFBEA"/>
          </a:solidFill>
          <a:ln w="19050">
            <a:solidFill>
              <a:srgbClr val="F5DE81"/>
            </a:solidFill>
            <a:prstDash val="sysDot"/>
          </a:ln>
        </p:spPr>
      </p:sp>
      <p:sp>
        <p:nvSpPr>
          <p:cNvPr id="23" name="Text 20"/>
          <p:cNvSpPr txBox="1"/>
          <p:nvPr/>
        </p:nvSpPr>
        <p:spPr>
          <a:xfrm>
            <a:off x="1422400" y="4953000"/>
            <a:ext cx="9347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相手からすると</a:t>
            </a:r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「自分の言葉」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究極の技をお伝えします！！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Text 3"/>
          <p:cNvSpPr txBox="1"/>
          <p:nvPr/>
        </p:nvSpPr>
        <p:spPr>
          <a:xfrm>
            <a:off x="1270000" y="1498600"/>
            <a:ext cx="965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KMB</a:t>
            </a:r>
            <a:pPr algn="l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（極限まで短くバックトラッキング）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270000" y="2159000"/>
            <a:ext cx="9652000" cy="698500"/>
          </a:xfrm>
          <a:prstGeom prst="roundRect">
            <a:avLst>
              <a:gd name="adj" fmla="val 21818"/>
            </a:avLst>
          </a:prstGeom>
          <a:solidFill>
            <a:srgbClr val="E3F7FD"/>
          </a:solidFill>
          <a:ln/>
        </p:spPr>
      </p:sp>
      <p:sp>
        <p:nvSpPr>
          <p:cNvPr id="8" name="Shape 5"/>
          <p:cNvSpPr/>
          <p:nvPr/>
        </p:nvSpPr>
        <p:spPr>
          <a:xfrm>
            <a:off x="1422400" y="233045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22400" y="233045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930400" y="2159000"/>
            <a:ext cx="355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「昨日眠れなかったの」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13400" y="2419350"/>
            <a:ext cx="279400" cy="177800"/>
          </a:xfrm>
          <a:prstGeom prst="rightArrow">
            <a:avLst/>
          </a:prstGeom>
          <a:solidFill>
            <a:srgbClr val="F5DE8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32500" y="2159000"/>
            <a:ext cx="47371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「昨日は眠れなかったんですね」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270000" y="2984500"/>
            <a:ext cx="9652000" cy="698500"/>
          </a:xfrm>
          <a:prstGeom prst="roundRect">
            <a:avLst>
              <a:gd name="adj" fmla="val 21818"/>
            </a:avLst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422400" y="315595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422400" y="315595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930400" y="2984500"/>
            <a:ext cx="355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「このプロジェクト、厳しいな」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613400" y="3244850"/>
            <a:ext cx="279400" cy="177800"/>
          </a:xfrm>
          <a:prstGeom prst="rightArrow">
            <a:avLst/>
          </a:prstGeom>
          <a:solidFill>
            <a:srgbClr val="F5DE8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032500" y="2984500"/>
            <a:ext cx="47371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「厳しい状況なんですね」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270000" y="3810000"/>
            <a:ext cx="9652000" cy="698500"/>
          </a:xfrm>
          <a:prstGeom prst="roundRect">
            <a:avLst>
              <a:gd name="adj" fmla="val 21818"/>
            </a:avLst>
          </a:prstGeom>
          <a:solidFill>
            <a:srgbClr val="E3F7FD"/>
          </a:solidFill>
          <a:ln/>
        </p:spPr>
      </p:sp>
      <p:sp>
        <p:nvSpPr>
          <p:cNvPr id="20" name="Shape 17"/>
          <p:cNvSpPr/>
          <p:nvPr/>
        </p:nvSpPr>
        <p:spPr>
          <a:xfrm>
            <a:off x="1422400" y="398145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422400" y="3981450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930400" y="3810000"/>
            <a:ext cx="355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「この商品は高すぎ」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613400" y="4070350"/>
            <a:ext cx="279400" cy="177800"/>
          </a:xfrm>
          <a:prstGeom prst="rightArrow">
            <a:avLst/>
          </a:prstGeom>
          <a:solidFill>
            <a:srgbClr val="F5DE8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032500" y="3810000"/>
            <a:ext cx="47371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「高すぎると感じていらっしゃるんですね」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270000" y="4762500"/>
            <a:ext cx="9652000" cy="698500"/>
          </a:xfrm>
          <a:prstGeom prst="roundRect">
            <a:avLst>
              <a:gd name="adj" fmla="val 18182"/>
            </a:avLst>
          </a:prstGeom>
          <a:solidFill>
            <a:srgbClr val="FFFBEA"/>
          </a:solidFill>
          <a:ln w="19050">
            <a:solidFill>
              <a:srgbClr val="F5DE81"/>
            </a:solidFill>
            <a:prstDash val="sysDot"/>
          </a:ln>
        </p:spPr>
      </p:sp>
      <p:sp>
        <p:nvSpPr>
          <p:cNvPr id="26" name="Text 23"/>
          <p:cNvSpPr txBox="1"/>
          <p:nvPr/>
        </p:nvSpPr>
        <p:spPr>
          <a:xfrm>
            <a:off x="1422400" y="4762500"/>
            <a:ext cx="9347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オウム返しはNG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同じ場面を、技を組み合わせて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先週、師匠の還暦祝いに行ったんです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同じ場面を、技を組み合わせて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先週、師匠の還暦祝いに行ったんです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18796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187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おぉ、還暦祝い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86200" y="2444750"/>
            <a:ext cx="102235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3A6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886200" y="2444750"/>
            <a:ext cx="10223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3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感嘆＋KMB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同じ場面を、技を組み合わせて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先週、師匠の還暦祝いに行ったんです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18796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187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おぉ、還暦祝い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86200" y="2444750"/>
            <a:ext cx="102235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3A6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886200" y="2444750"/>
            <a:ext cx="10223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3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感嘆＋KMB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21" name="Shape 18"/>
          <p:cNvSpPr/>
          <p:nvPr/>
        </p:nvSpPr>
        <p:spPr>
          <a:xfrm>
            <a:off x="6292850" y="3041650"/>
            <a:ext cx="404495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292850" y="3041650"/>
            <a:ext cx="4044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そうなんです。4、50人集まってくれて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同じ場面を、技を組み合わせて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先週、師匠の還暦祝いに行ったんです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18796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187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おぉ、還暦祝い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86200" y="2444750"/>
            <a:ext cx="102235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3A6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886200" y="2444750"/>
            <a:ext cx="10223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3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感嘆＋KMB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21" name="Shape 18"/>
          <p:cNvSpPr/>
          <p:nvPr/>
        </p:nvSpPr>
        <p:spPr>
          <a:xfrm>
            <a:off x="6292850" y="3041650"/>
            <a:ext cx="404495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292850" y="3041650"/>
            <a:ext cx="4044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そうなんです。4、50人集まってくれて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270000" y="38290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70000" y="38290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 rot="16200000">
            <a:off x="1739900" y="39560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26" name="Shape 23"/>
          <p:cNvSpPr/>
          <p:nvPr/>
        </p:nvSpPr>
        <p:spPr>
          <a:xfrm>
            <a:off x="1854200" y="3765550"/>
            <a:ext cx="241935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854200" y="3765550"/>
            <a:ext cx="2419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えー！！4、50人！？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425950" y="3892550"/>
            <a:ext cx="102235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3A6E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425950" y="3892550"/>
            <a:ext cx="10223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3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感嘆＋KMB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同じ場面を、技を組み合わせて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先週、師匠の還暦祝いに行ったんです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18796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187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おぉ、還暦祝い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86200" y="2444750"/>
            <a:ext cx="102235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3A6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886200" y="2444750"/>
            <a:ext cx="10223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3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感嘆＋KMB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21" name="Shape 18"/>
          <p:cNvSpPr/>
          <p:nvPr/>
        </p:nvSpPr>
        <p:spPr>
          <a:xfrm>
            <a:off x="6292850" y="3041650"/>
            <a:ext cx="404495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292850" y="3041650"/>
            <a:ext cx="4044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そうなんです。4、50人集まってくれて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270000" y="38290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70000" y="38290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 rot="16200000">
            <a:off x="1739900" y="39560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26" name="Shape 23"/>
          <p:cNvSpPr/>
          <p:nvPr/>
        </p:nvSpPr>
        <p:spPr>
          <a:xfrm>
            <a:off x="1854200" y="3765550"/>
            <a:ext cx="241935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854200" y="3765550"/>
            <a:ext cx="2419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えー！！4、50人！？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425950" y="3892550"/>
            <a:ext cx="102235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3A6E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425950" y="3892550"/>
            <a:ext cx="10223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3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感嘆＋KMB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10515600" y="45529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515600" y="45529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 rot="5400000">
            <a:off x="10299700" y="46799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33" name="Shape 30"/>
          <p:cNvSpPr/>
          <p:nvPr/>
        </p:nvSpPr>
        <p:spPr>
          <a:xfrm>
            <a:off x="7239000" y="44894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239000" y="44894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はい。懐かしい人にも会えて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同じ場面を、技を組み合わせて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6426200" y="1593850"/>
            <a:ext cx="39116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26200" y="1593850"/>
            <a:ext cx="3911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先週、師匠の還暦祝いに行ったんです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18796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1879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おぉ、還暦祝い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86200" y="2444750"/>
            <a:ext cx="102235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3A6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886200" y="2444750"/>
            <a:ext cx="10223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3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感嘆＋KMB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21" name="Shape 18"/>
          <p:cNvSpPr/>
          <p:nvPr/>
        </p:nvSpPr>
        <p:spPr>
          <a:xfrm>
            <a:off x="6292850" y="3041650"/>
            <a:ext cx="404495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292850" y="3041650"/>
            <a:ext cx="4044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そうなんです。4、50人集まってくれて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270000" y="38290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70000" y="38290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 rot="16200000">
            <a:off x="1739900" y="39560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26" name="Shape 23"/>
          <p:cNvSpPr/>
          <p:nvPr/>
        </p:nvSpPr>
        <p:spPr>
          <a:xfrm>
            <a:off x="1854200" y="3765550"/>
            <a:ext cx="241935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854200" y="3765550"/>
            <a:ext cx="2419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えー！！4、50人！？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425950" y="3892550"/>
            <a:ext cx="102235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3A6E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425950" y="3892550"/>
            <a:ext cx="10223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3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感嘆＋KMB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10515600" y="45529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515600" y="45529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 rot="5400000">
            <a:off x="10299700" y="46799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33" name="Shape 30"/>
          <p:cNvSpPr/>
          <p:nvPr/>
        </p:nvSpPr>
        <p:spPr>
          <a:xfrm>
            <a:off x="7239000" y="44894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239000" y="44894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はい。懐かしい人にも会えて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270000" y="52768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270000" y="52768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 rot="16200000">
            <a:off x="1739900" y="54038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38" name="Shape 35"/>
          <p:cNvSpPr/>
          <p:nvPr/>
        </p:nvSpPr>
        <p:spPr>
          <a:xfrm>
            <a:off x="1854200" y="5213350"/>
            <a:ext cx="35052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854200" y="5213350"/>
            <a:ext cx="350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うんうん。そうだったんですねぇ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5511800" y="5340350"/>
            <a:ext cx="19050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3A6E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11800" y="534035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3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うなずき＋受容ワード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同じ場面を、技を組み合わせて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5797550" y="1593850"/>
            <a:ext cx="454025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797550" y="1593850"/>
            <a:ext cx="454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大学の頃の先輩に、10年ぶりに会えたんです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同じ場面を、技を組み合わせて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5797550" y="1593850"/>
            <a:ext cx="454025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797550" y="1593850"/>
            <a:ext cx="454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大学の頃の先輩に、10年ぶりに会えたんです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169545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16954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10年ぶりかぁ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702050" y="2444750"/>
            <a:ext cx="52705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3A6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702050" y="2444750"/>
            <a:ext cx="5270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3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KMB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同じ場面を、技を組み合わせて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5797550" y="1593850"/>
            <a:ext cx="454025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797550" y="1593850"/>
            <a:ext cx="454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大学の頃の先輩に、10年ぶりに会えたんです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169545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16954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10年ぶりかぁ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702050" y="2444750"/>
            <a:ext cx="52705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3A6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702050" y="2444750"/>
            <a:ext cx="5270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3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KMB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21" name="Shape 18"/>
          <p:cNvSpPr/>
          <p:nvPr/>
        </p:nvSpPr>
        <p:spPr>
          <a:xfrm>
            <a:off x="5207000" y="3041650"/>
            <a:ext cx="5130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207000" y="3041650"/>
            <a:ext cx="513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話し始めたら、一気に当時に戻った感じで嬉しくて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同じ場面を、技を組み合わせて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0515600" y="16573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515600" y="16573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 rot="5400000">
            <a:off x="10299700" y="17843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9" name="Shape 6"/>
          <p:cNvSpPr/>
          <p:nvPr/>
        </p:nvSpPr>
        <p:spPr>
          <a:xfrm>
            <a:off x="5797550" y="1593850"/>
            <a:ext cx="454025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797550" y="1593850"/>
            <a:ext cx="454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大学の頃の先輩に、10年ぶりに会えたんです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70000" y="23812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70000" y="23812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 rot="16200000">
            <a:off x="1739900" y="25082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1854200" y="2317750"/>
            <a:ext cx="169545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54200" y="2317750"/>
            <a:ext cx="16954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10年ぶりかぁ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702050" y="2444750"/>
            <a:ext cx="52705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3A6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702050" y="2444750"/>
            <a:ext cx="52705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3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KMB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515600" y="3105150"/>
            <a:ext cx="406400" cy="406400"/>
          </a:xfrm>
          <a:prstGeom prst="ellipse">
            <a:avLst/>
          </a:prstGeom>
          <a:solidFill>
            <a:srgbClr val="EBA3D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515600" y="31051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 rot="5400000">
            <a:off x="10299700" y="3232150"/>
            <a:ext cx="152400" cy="152400"/>
          </a:xfrm>
          <a:prstGeom prst="triangle">
            <a:avLst/>
          </a:prstGeom>
          <a:solidFill>
            <a:srgbClr val="FCEEF7"/>
          </a:solidFill>
          <a:ln/>
        </p:spPr>
      </p:sp>
      <p:sp>
        <p:nvSpPr>
          <p:cNvPr id="21" name="Shape 18"/>
          <p:cNvSpPr/>
          <p:nvPr/>
        </p:nvSpPr>
        <p:spPr>
          <a:xfrm>
            <a:off x="5207000" y="3041650"/>
            <a:ext cx="5130800" cy="533400"/>
          </a:xfrm>
          <a:prstGeom prst="roundRect">
            <a:avLst>
              <a:gd name="adj" fmla="val 33333"/>
            </a:avLst>
          </a:prstGeom>
          <a:solidFill>
            <a:srgbClr val="FCEE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207000" y="3041650"/>
            <a:ext cx="513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話し始めたら、一気に当時に戻った感じで嬉しくて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270000" y="3829050"/>
            <a:ext cx="406400" cy="406400"/>
          </a:xfrm>
          <a:prstGeom prst="ellipse">
            <a:avLst/>
          </a:prstGeom>
          <a:solidFill>
            <a:srgbClr val="8EC3E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70000" y="382905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A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 rot="16200000">
            <a:off x="1739900" y="3956050"/>
            <a:ext cx="152400" cy="152400"/>
          </a:xfrm>
          <a:prstGeom prst="triangle">
            <a:avLst/>
          </a:prstGeom>
          <a:solidFill>
            <a:srgbClr val="E3F7FD"/>
          </a:solidFill>
          <a:ln/>
        </p:spPr>
      </p:sp>
      <p:sp>
        <p:nvSpPr>
          <p:cNvPr id="26" name="Shape 23"/>
          <p:cNvSpPr/>
          <p:nvPr/>
        </p:nvSpPr>
        <p:spPr>
          <a:xfrm>
            <a:off x="1854200" y="3765550"/>
            <a:ext cx="3098800" cy="533400"/>
          </a:xfrm>
          <a:prstGeom prst="roundRect">
            <a:avLst>
              <a:gd name="adj" fmla="val 33333"/>
            </a:avLst>
          </a:prstGeom>
          <a:solidFill>
            <a:srgbClr val="E3F7F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854200" y="3765550"/>
            <a:ext cx="3098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わぁそれは嬉しいですよね！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105400" y="3892550"/>
            <a:ext cx="10795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B3A6E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105400" y="3892550"/>
            <a:ext cx="1079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3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共感ワード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KMBの使いどころ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270000" y="1714500"/>
            <a:ext cx="9652000" cy="825500"/>
          </a:xfrm>
          <a:prstGeom prst="roundRect">
            <a:avLst>
              <a:gd name="adj" fmla="val 18462"/>
            </a:avLst>
          </a:prstGeom>
          <a:solidFill>
            <a:srgbClr val="E3F7FD"/>
          </a:solidFill>
          <a:ln/>
        </p:spPr>
      </p:sp>
      <p:sp>
        <p:nvSpPr>
          <p:cNvPr id="7" name="Shape 4"/>
          <p:cNvSpPr/>
          <p:nvPr/>
        </p:nvSpPr>
        <p:spPr>
          <a:xfrm>
            <a:off x="1422400" y="194945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549400" y="207645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968500" y="1714500"/>
            <a:ext cx="876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ja-JP" altLang="en-US" sz="20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気持ちは、相手が口にしてから受け取る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270000" y="2705100"/>
            <a:ext cx="9652000" cy="825500"/>
          </a:xfrm>
          <a:prstGeom prst="roundRect">
            <a:avLst>
              <a:gd name="adj" fmla="val 18462"/>
            </a:avLst>
          </a:prstGeom>
          <a:solidFill>
            <a:srgbClr val="E3F7FD"/>
          </a:solidFill>
          <a:ln/>
        </p:spPr>
      </p:sp>
      <p:sp>
        <p:nvSpPr>
          <p:cNvPr id="11" name="Shape 8"/>
          <p:cNvSpPr/>
          <p:nvPr/>
        </p:nvSpPr>
        <p:spPr>
          <a:xfrm>
            <a:off x="1422400" y="294005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1549400" y="306705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968500" y="2705100"/>
            <a:ext cx="876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ja-JP" altLang="en-US" sz="20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ここぞという言葉に使う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270000" y="3695700"/>
            <a:ext cx="9652000" cy="825500"/>
          </a:xfrm>
          <a:prstGeom prst="roundRect">
            <a:avLst>
              <a:gd name="adj" fmla="val 18462"/>
            </a:avLst>
          </a:prstGeom>
          <a:solidFill>
            <a:srgbClr val="E3F7FD"/>
          </a:solidFill>
          <a:ln/>
        </p:spPr>
      </p:sp>
      <p:sp>
        <p:nvSpPr>
          <p:cNvPr id="15" name="Shape 12"/>
          <p:cNvSpPr/>
          <p:nvPr/>
        </p:nvSpPr>
        <p:spPr>
          <a:xfrm>
            <a:off x="1422400" y="393065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1549400" y="405765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968500" y="3695700"/>
            <a:ext cx="876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ja-JP" altLang="en-US" sz="20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ほかの技と組み合わせる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1270000" y="4686300"/>
            <a:ext cx="9652000" cy="825500"/>
          </a:xfrm>
          <a:prstGeom prst="roundRect">
            <a:avLst>
              <a:gd name="adj" fmla="val 18462"/>
            </a:avLst>
          </a:prstGeom>
          <a:solidFill>
            <a:srgbClr val="E3F7FD"/>
          </a:solidFill>
          <a:ln/>
        </p:spPr>
      </p:sp>
      <p:sp>
        <p:nvSpPr>
          <p:cNvPr id="19" name="Shape 16"/>
          <p:cNvSpPr/>
          <p:nvPr/>
        </p:nvSpPr>
        <p:spPr>
          <a:xfrm>
            <a:off x="1422400" y="492125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1549400" y="504825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968500" y="4686300"/>
            <a:ext cx="876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ja-JP" altLang="en-US" sz="2000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質問しなくても、相手が続きを話す</a:t>
            </a:r>
            <a:endParaRPr lang="en-US" sz="2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pic>
        <p:nvPicPr>
          <p:cNvPr id="4" name="Image 1" descr="/home/user/yumi/slides/part1/assets/script-chapter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118" y="2095500"/>
            <a:ext cx="2957763" cy="76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16000" y="3048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まとめと、このあとの実践ワーク</a:t>
            </a:r>
            <a:endParaRPr lang="en-US" sz="3000" dirty="0"/>
          </a:p>
        </p:txBody>
      </p:sp>
      <p:pic>
        <p:nvPicPr>
          <p:cNvPr id="6" name="Image 2" descr="/home/user/yumi/slides/part1/assets/deco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873500"/>
            <a:ext cx="2857500" cy="2857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92200" y="109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3"/>
          <p:cNvSpPr/>
          <p:nvPr/>
        </p:nvSpPr>
        <p:spPr>
          <a:xfrm>
            <a:off x="1333500" y="1282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4"/>
          <p:cNvSpPr/>
          <p:nvPr/>
        </p:nvSpPr>
        <p:spPr>
          <a:xfrm>
            <a:off x="1047750" y="13906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5"/>
          <p:cNvSpPr/>
          <p:nvPr/>
        </p:nvSpPr>
        <p:spPr>
          <a:xfrm>
            <a:off x="10998200" y="5537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6"/>
          <p:cNvSpPr/>
          <p:nvPr/>
        </p:nvSpPr>
        <p:spPr>
          <a:xfrm>
            <a:off x="10807700" y="5727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2" name="Shape 7"/>
          <p:cNvSpPr/>
          <p:nvPr/>
        </p:nvSpPr>
        <p:spPr>
          <a:xfrm>
            <a:off x="11156950" y="53530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270000" y="1587500"/>
            <a:ext cx="9652000" cy="698500"/>
          </a:xfrm>
          <a:prstGeom prst="roundRect">
            <a:avLst>
              <a:gd name="adj" fmla="val 21818"/>
            </a:avLst>
          </a:prstGeom>
          <a:solidFill>
            <a:srgbClr val="E3F7FD"/>
          </a:solidFill>
          <a:ln/>
        </p:spPr>
      </p:sp>
      <p:sp>
        <p:nvSpPr>
          <p:cNvPr id="7" name="Shape 4"/>
          <p:cNvSpPr/>
          <p:nvPr/>
        </p:nvSpPr>
        <p:spPr>
          <a:xfrm>
            <a:off x="1422400" y="175895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549400" y="188595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968500" y="1587500"/>
            <a:ext cx="876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「うまく話す」より</a:t>
            </a:r>
            <a:pPr algn="l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【土壌を作る】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270000" y="2425700"/>
            <a:ext cx="9652000" cy="698500"/>
          </a:xfrm>
          <a:prstGeom prst="roundRect">
            <a:avLst>
              <a:gd name="adj" fmla="val 21818"/>
            </a:avLst>
          </a:prstGeom>
          <a:solidFill>
            <a:srgbClr val="E3F7FD"/>
          </a:solidFill>
          <a:ln/>
        </p:spPr>
      </p:sp>
      <p:sp>
        <p:nvSpPr>
          <p:cNvPr id="11" name="Shape 8"/>
          <p:cNvSpPr/>
          <p:nvPr/>
        </p:nvSpPr>
        <p:spPr>
          <a:xfrm>
            <a:off x="1422400" y="259715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1549400" y="272415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968500" y="2425700"/>
            <a:ext cx="177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4つの道具：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746500" y="2565400"/>
            <a:ext cx="15875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746500" y="2565400"/>
            <a:ext cx="15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7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うなずき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0" y="2565400"/>
            <a:ext cx="15875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0" y="2565400"/>
            <a:ext cx="15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7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相槌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226300" y="2565400"/>
            <a:ext cx="15875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226300" y="2565400"/>
            <a:ext cx="15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7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受容ワード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8966200" y="2565400"/>
            <a:ext cx="15875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966200" y="2565400"/>
            <a:ext cx="15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7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KMB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1270000" y="3263900"/>
            <a:ext cx="9652000" cy="698500"/>
          </a:xfrm>
          <a:prstGeom prst="roundRect">
            <a:avLst>
              <a:gd name="adj" fmla="val 21818"/>
            </a:avLst>
          </a:prstGeom>
          <a:solidFill>
            <a:srgbClr val="E3F7FD"/>
          </a:solidFill>
          <a:ln/>
        </p:spPr>
      </p:sp>
      <p:sp>
        <p:nvSpPr>
          <p:cNvPr id="23" name="Shape 20"/>
          <p:cNvSpPr/>
          <p:nvPr/>
        </p:nvSpPr>
        <p:spPr>
          <a:xfrm>
            <a:off x="1422400" y="343535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1549400" y="356235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968500" y="3263900"/>
            <a:ext cx="876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説明せず、ジャッジせず、聞く。それだけで好感度はたまる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270000" y="4343400"/>
            <a:ext cx="9652000" cy="762000"/>
          </a:xfrm>
          <a:prstGeom prst="roundRect">
            <a:avLst>
              <a:gd name="adj" fmla="val 16667"/>
            </a:avLst>
          </a:prstGeom>
          <a:solidFill>
            <a:srgbClr val="FFFBEA"/>
          </a:solidFill>
          <a:ln w="19050">
            <a:solidFill>
              <a:srgbClr val="F5DE81"/>
            </a:solidFill>
            <a:prstDash val="sysDot"/>
          </a:ln>
        </p:spPr>
      </p:sp>
      <p:sp>
        <p:nvSpPr>
          <p:cNvPr id="27" name="Text 24"/>
          <p:cNvSpPr txBox="1"/>
          <p:nvPr/>
        </p:nvSpPr>
        <p:spPr>
          <a:xfrm>
            <a:off x="1422400" y="4343400"/>
            <a:ext cx="934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簡単なスキルで、</a:t>
            </a:r>
            <a:pPr algn="ctr" indent="0" marL="0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人間関係は変わる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実践してみましょう！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9144000" y="698500"/>
            <a:ext cx="1778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F5DE8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0" y="698500"/>
            <a:ext cx="177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6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WORK TIME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70000" y="1714500"/>
            <a:ext cx="9652000" cy="762000"/>
          </a:xfrm>
          <a:prstGeom prst="roundRect">
            <a:avLst>
              <a:gd name="adj" fmla="val 20000"/>
            </a:avLst>
          </a:prstGeom>
          <a:solidFill>
            <a:srgbClr val="E3F7FD"/>
          </a:solidFill>
          <a:ln/>
        </p:spPr>
      </p:sp>
      <p:sp>
        <p:nvSpPr>
          <p:cNvPr id="9" name="Shape 6"/>
          <p:cNvSpPr/>
          <p:nvPr/>
        </p:nvSpPr>
        <p:spPr>
          <a:xfrm>
            <a:off x="1422400" y="1917700"/>
            <a:ext cx="355600" cy="355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1549400" y="20447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68500" y="1714500"/>
            <a:ext cx="876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うなずき・アイヅチ・受容ワード＆KMBを使って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270000" y="2794000"/>
            <a:ext cx="9652000" cy="2667000"/>
          </a:xfrm>
          <a:prstGeom prst="roundRect">
            <a:avLst>
              <a:gd name="adj" fmla="val 6667"/>
            </a:avLst>
          </a:prstGeom>
          <a:solidFill>
            <a:srgbClr val="E3F7FD"/>
          </a:solidFill>
          <a:ln/>
        </p:spPr>
      </p:sp>
      <p:sp>
        <p:nvSpPr>
          <p:cNvPr id="13" name="Shape 10"/>
          <p:cNvSpPr/>
          <p:nvPr/>
        </p:nvSpPr>
        <p:spPr>
          <a:xfrm>
            <a:off x="5461000" y="30226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61000" y="3022600"/>
            <a:ext cx="127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テーマ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22400" y="3492500"/>
            <a:ext cx="9347200" cy="181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ja-JP" altLang="en-US" sz="30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「自己紹介〜私はこういう人です〜」</a:t>
            </a:r>
            <a:endParaRPr lang="en-US" sz="3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顔と体に　カメラと目線を合わせる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460500" y="1905000"/>
            <a:ext cx="3937000" cy="2667000"/>
          </a:xfrm>
          <a:prstGeom prst="roundRect">
            <a:avLst>
              <a:gd name="adj" fmla="val 5714"/>
            </a:avLst>
          </a:prstGeom>
          <a:solidFill>
            <a:srgbClr val="E3F7FD"/>
          </a:solidFill>
          <a:ln w="38100">
            <a:solidFill>
              <a:srgbClr val="8EC3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857500" y="4635500"/>
            <a:ext cx="1143000" cy="190500"/>
          </a:xfrm>
          <a:prstGeom prst="roundRect">
            <a:avLst>
              <a:gd name="adj" fmla="val 26667"/>
            </a:avLst>
          </a:prstGeom>
          <a:solidFill>
            <a:srgbClr val="8EC3E6"/>
          </a:solidFill>
          <a:ln/>
        </p:spPr>
      </p:sp>
      <p:sp>
        <p:nvSpPr>
          <p:cNvPr id="8" name="Shape 5"/>
          <p:cNvSpPr/>
          <p:nvPr/>
        </p:nvSpPr>
        <p:spPr>
          <a:xfrm>
            <a:off x="2984500" y="2413000"/>
            <a:ext cx="889000" cy="889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97D7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03500" y="3429000"/>
            <a:ext cx="1651000" cy="952500"/>
          </a:xfrm>
          <a:prstGeom prst="roundRect">
            <a:avLst>
              <a:gd name="adj" fmla="val 46667"/>
            </a:avLst>
          </a:prstGeom>
          <a:solidFill>
            <a:srgbClr val="FFFFFF"/>
          </a:solidFill>
          <a:ln w="31750">
            <a:solidFill>
              <a:srgbClr val="897D7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76500" y="2222500"/>
            <a:ext cx="1905000" cy="1206500"/>
          </a:xfrm>
          <a:prstGeom prst="ellipse">
            <a:avLst/>
          </a:prstGeom>
          <a:ln w="38100">
            <a:solidFill>
              <a:srgbClr val="8B5FB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69000" y="1905000"/>
            <a:ext cx="4953000" cy="1206500"/>
          </a:xfrm>
          <a:prstGeom prst="roundRect">
            <a:avLst>
              <a:gd name="adj" fmla="val 12632"/>
            </a:avLst>
          </a:prstGeom>
          <a:solidFill>
            <a:srgbClr val="E3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23000" y="1905000"/>
            <a:ext cx="444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意識では</a:t>
            </a:r>
            <a:pPr algn="l" indent="0" marL="0">
              <a:lnSpc>
                <a:spcPct val="140000"/>
              </a:lnSpc>
              <a:buNone/>
            </a:pPr>
            <a:r>
              <a:rPr lang="ja-JP" altLang="en-US" sz="20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話し相手の顔だけ</a:t>
            </a:r>
            <a:pPr algn="l" indent="0" marL="0">
              <a:lnSpc>
                <a:spcPct val="140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に</a:t>
            </a:r>
            <a:endParaRPr lang="en-US" sz="2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集中しているつもり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969000" y="3365500"/>
            <a:ext cx="4953000" cy="1206500"/>
          </a:xfrm>
          <a:prstGeom prst="roundRect">
            <a:avLst>
              <a:gd name="adj" fmla="val 12632"/>
            </a:avLst>
          </a:prstGeom>
          <a:solidFill>
            <a:srgbClr val="E3F7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23000" y="3365500"/>
            <a:ext cx="444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でも無意識では</a:t>
            </a:r>
            <a:pPr algn="l" indent="0" marL="0">
              <a:lnSpc>
                <a:spcPct val="140000"/>
              </a:lnSpc>
              <a:buNone/>
            </a:pPr>
            <a:r>
              <a:rPr lang="ja-JP" altLang="en-US" sz="20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画面全体の情報</a:t>
            </a:r>
            <a:pPr algn="l" indent="0" marL="0">
              <a:lnSpc>
                <a:spcPct val="140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を</a:t>
            </a:r>
            <a:endParaRPr lang="en-US" sz="2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ja-JP" altLang="en-US" sz="2000" b="1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察知している</a:t>
            </a:r>
            <a:endParaRPr lang="en-US" sz="2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pic>
        <p:nvPicPr>
          <p:cNvPr id="4" name="Image 1" descr="/home/user/yumi/slides/part1/assets/script-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770" y="2095500"/>
            <a:ext cx="2094459" cy="762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16000" y="3048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実践ワーク：聞き上手を体験しよう</a:t>
            </a:r>
            <a:endParaRPr lang="en-US" sz="3000" dirty="0"/>
          </a:p>
        </p:txBody>
      </p:sp>
      <p:pic>
        <p:nvPicPr>
          <p:cNvPr id="6" name="Image 2" descr="/home/user/yumi/slides/part1/assets/deco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3873500"/>
            <a:ext cx="2857500" cy="28575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92200" y="1092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3"/>
          <p:cNvSpPr/>
          <p:nvPr/>
        </p:nvSpPr>
        <p:spPr>
          <a:xfrm>
            <a:off x="1333500" y="1282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4"/>
          <p:cNvSpPr/>
          <p:nvPr/>
        </p:nvSpPr>
        <p:spPr>
          <a:xfrm>
            <a:off x="1047750" y="13906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Shape 5"/>
          <p:cNvSpPr/>
          <p:nvPr/>
        </p:nvSpPr>
        <p:spPr>
          <a:xfrm>
            <a:off x="10998200" y="55372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1" name="Shape 6"/>
          <p:cNvSpPr/>
          <p:nvPr/>
        </p:nvSpPr>
        <p:spPr>
          <a:xfrm>
            <a:off x="10807700" y="57277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2" name="Shape 7"/>
          <p:cNvSpPr/>
          <p:nvPr/>
        </p:nvSpPr>
        <p:spPr>
          <a:xfrm>
            <a:off x="11156950" y="53530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1回目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270000" y="1841500"/>
            <a:ext cx="3937000" cy="3302000"/>
          </a:xfrm>
          <a:prstGeom prst="roundRect">
            <a:avLst>
              <a:gd name="adj" fmla="val 5385"/>
            </a:avLst>
          </a:prstGeom>
          <a:solidFill>
            <a:srgbClr val="E3F7F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70000" y="1841500"/>
            <a:ext cx="3937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話し手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6985000" y="1841500"/>
            <a:ext cx="3937000" cy="3302000"/>
          </a:xfrm>
          <a:prstGeom prst="roundRect">
            <a:avLst>
              <a:gd name="adj" fmla="val 5385"/>
            </a:avLst>
          </a:prstGeom>
          <a:solidFill>
            <a:srgbClr val="E3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85000" y="1841500"/>
            <a:ext cx="3937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聞き手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5993130" y="2865120"/>
            <a:ext cx="205740" cy="137160"/>
          </a:xfrm>
          <a:prstGeom prst="roundRect">
            <a:avLst>
              <a:gd name="adj" fmla="val 27778"/>
            </a:avLst>
          </a:prstGeom>
          <a:solidFill>
            <a:srgbClr val="897D74"/>
          </a:solidFill>
          <a:ln/>
        </p:spPr>
      </p:sp>
      <p:sp>
        <p:nvSpPr>
          <p:cNvPr id="11" name="Shape 8"/>
          <p:cNvSpPr/>
          <p:nvPr/>
        </p:nvSpPr>
        <p:spPr>
          <a:xfrm>
            <a:off x="5524500" y="3048000"/>
            <a:ext cx="1143000" cy="114300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897D7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96000" y="3253740"/>
            <a:ext cx="0" cy="365760"/>
          </a:xfrm>
          <a:prstGeom prst="line">
            <a:avLst/>
          </a:prstGeom>
          <a:noFill/>
          <a:ln w="50800">
            <a:solidFill>
              <a:srgbClr val="8B5FB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51550" y="3575050"/>
            <a:ext cx="88900" cy="88900"/>
          </a:xfrm>
          <a:prstGeom prst="ellipse">
            <a:avLst/>
          </a:prstGeom>
          <a:solidFill>
            <a:srgbClr val="8B5FBF"/>
          </a:solidFill>
          <a:ln/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5600" y="355600"/>
            <a:ext cx="11480800" cy="61468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422400" y="6096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ja-JP" altLang="en-US" sz="3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交代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35000" y="1295400"/>
            <a:ext cx="10922000" cy="0"/>
          </a:xfrm>
          <a:prstGeom prst="line">
            <a:avLst/>
          </a:prstGeom>
          <a:noFill/>
          <a:ln w="25400">
            <a:solidFill>
              <a:srgbClr val="F5DE81"/>
            </a:solidFill>
            <a:prstDash val="sysDot"/>
          </a:ln>
        </p:spPr>
      </p:sp>
      <p:sp>
        <p:nvSpPr>
          <p:cNvPr id="6" name="Shape 3"/>
          <p:cNvSpPr/>
          <p:nvPr/>
        </p:nvSpPr>
        <p:spPr>
          <a:xfrm>
            <a:off x="1270000" y="1841500"/>
            <a:ext cx="3937000" cy="3302000"/>
          </a:xfrm>
          <a:prstGeom prst="roundRect">
            <a:avLst>
              <a:gd name="adj" fmla="val 5385"/>
            </a:avLst>
          </a:prstGeom>
          <a:solidFill>
            <a:srgbClr val="E3F7F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70000" y="1841500"/>
            <a:ext cx="3937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40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聞き手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6985000" y="1841500"/>
            <a:ext cx="3937000" cy="3302000"/>
          </a:xfrm>
          <a:prstGeom prst="roundRect">
            <a:avLst>
              <a:gd name="adj" fmla="val 5385"/>
            </a:avLst>
          </a:prstGeom>
          <a:solidFill>
            <a:srgbClr val="E3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85000" y="1841500"/>
            <a:ext cx="3937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4000" b="1" dirty="0">
                <a:solidFill>
                  <a:srgbClr val="8B5FBF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話し手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5993130" y="2865120"/>
            <a:ext cx="205740" cy="137160"/>
          </a:xfrm>
          <a:prstGeom prst="roundRect">
            <a:avLst>
              <a:gd name="adj" fmla="val 27778"/>
            </a:avLst>
          </a:prstGeom>
          <a:solidFill>
            <a:srgbClr val="897D74"/>
          </a:solidFill>
          <a:ln/>
        </p:spPr>
      </p:sp>
      <p:sp>
        <p:nvSpPr>
          <p:cNvPr id="11" name="Shape 8"/>
          <p:cNvSpPr/>
          <p:nvPr/>
        </p:nvSpPr>
        <p:spPr>
          <a:xfrm>
            <a:off x="5524500" y="3048000"/>
            <a:ext cx="1143000" cy="114300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897D7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96000" y="3253740"/>
            <a:ext cx="0" cy="365760"/>
          </a:xfrm>
          <a:prstGeom prst="line">
            <a:avLst/>
          </a:prstGeom>
          <a:noFill/>
          <a:ln w="50800">
            <a:solidFill>
              <a:srgbClr val="8B5FB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51550" y="3575050"/>
            <a:ext cx="88900" cy="88900"/>
          </a:xfrm>
          <a:prstGeom prst="ellipse">
            <a:avLst/>
          </a:prstGeom>
          <a:solidFill>
            <a:srgbClr val="8B5FBF"/>
          </a:solidFill>
          <a:ln/>
        </p:spPr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yumi/slides/part1/assets/bg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4000" y="1016000"/>
            <a:ext cx="9144000" cy="4826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905000" y="1905000"/>
            <a:ext cx="838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今の体験を、</a:t>
            </a:r>
            <a:endParaRPr lang="en-US" sz="4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ja-JP" altLang="en-US" sz="4000" b="1" dirty="0">
                <a:solidFill>
                  <a:srgbClr val="897D74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覚えておいてください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1860550" y="1416050"/>
            <a:ext cx="88900" cy="889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6" name="Shape 3"/>
          <p:cNvSpPr/>
          <p:nvPr/>
        </p:nvSpPr>
        <p:spPr>
          <a:xfrm>
            <a:off x="2070100" y="16383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7" name="Shape 4"/>
          <p:cNvSpPr/>
          <p:nvPr/>
        </p:nvSpPr>
        <p:spPr>
          <a:xfrm>
            <a:off x="10236200" y="5346700"/>
            <a:ext cx="101600" cy="1016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8" name="Shape 5"/>
          <p:cNvSpPr/>
          <p:nvPr/>
        </p:nvSpPr>
        <p:spPr>
          <a:xfrm>
            <a:off x="10071100" y="5524500"/>
            <a:ext cx="50800" cy="508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9" name="Shape 6"/>
          <p:cNvSpPr/>
          <p:nvPr/>
        </p:nvSpPr>
        <p:spPr>
          <a:xfrm>
            <a:off x="10445750" y="5187950"/>
            <a:ext cx="38100" cy="38100"/>
          </a:xfrm>
          <a:prstGeom prst="ellipse">
            <a:avLst/>
          </a:prstGeom>
          <a:solidFill>
            <a:srgbClr val="F5DE8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905000" y="3937000"/>
            <a:ext cx="838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ja-JP" altLang="en-US" sz="1800" dirty="0">
                <a:solidFill>
                  <a:srgbClr val="6F635B"/>
                </a:solidFill>
                <a:latin typeface="游明朝" pitchFamily="34" charset="0"/>
                <a:ea typeface="游明朝" pitchFamily="34" charset="-128"/>
                <a:cs typeface="游明朝" pitchFamily="34" charset="-120"/>
              </a:rPr>
              <a:t>感想の共有は、第二部の冒頭で行います</a:t>
            </a:r>
            <a:endParaRPr lang="en-US" sz="1800" dirty="0"/>
          </a:p>
        </p:txBody>
      </p:sp>
      <p:pic>
        <p:nvPicPr>
          <p:cNvPr id="11" name="Image 1" descr="/home/user/yumi/slides/part1/assets/script-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350" y="4572000"/>
            <a:ext cx="2257299" cy="698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心を掴んで“離さない”極意（第一部）</dc:title>
  <dc:subject>PptxGenJS Presentation</dc:subject>
  <dc:creator>PptxGenJS</dc:creator>
  <cp:lastModifiedBy>PptxGenJS</cp:lastModifiedBy>
  <cp:revision>1</cp:revision>
  <dcterms:created xsi:type="dcterms:W3CDTF">2026-09-30T04:21:40Z</dcterms:created>
  <dcterms:modified xsi:type="dcterms:W3CDTF">2026-09-30T04:21:40Z</dcterms:modified>
</cp:coreProperties>
</file>